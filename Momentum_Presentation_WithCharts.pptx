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sldIdLst>
    <p:sldId id="256" r:id="rId5"/>
    <p:sldId id="257" r:id="rId6"/>
    <p:sldId id="258" r:id="rId7"/>
    <p:sldId id="260" r:id="rId8"/>
    <p:sldId id="261" r:id="rId9"/>
    <p:sldId id="262" r:id="rId10"/>
    <p:sldId id="263" r:id="rId11"/>
    <p:sldId id="264" r:id="rId12"/>
    <p:sldId id="265" r:id="rId13"/>
    <p:sldId id="259" r:id="rId14"/>
    <p:sldId id="266" r:id="rId15"/>
    <p:sldId id="267"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1F3D"/>
    <a:srgbClr val="162746"/>
    <a:srgbClr val="101C32"/>
    <a:srgbClr val="1C3158"/>
    <a:srgbClr val="1D3259"/>
    <a:srgbClr val="111E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8372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6.sv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3D"/>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4FC3F7"/>
          </a:solidFill>
          <a:ln/>
        </p:spPr>
        <p:txBody>
          <a:bodyPr/>
          <a:lstStyle/>
          <a:p>
            <a:endParaRPr lang="en-IE"/>
          </a:p>
        </p:txBody>
      </p:sp>
      <p:sp>
        <p:nvSpPr>
          <p:cNvPr id="3" name="Text 1"/>
          <p:cNvSpPr/>
          <p:nvPr/>
        </p:nvSpPr>
        <p:spPr>
          <a:xfrm>
            <a:off x="457200" y="822960"/>
            <a:ext cx="8229600" cy="1097280"/>
          </a:xfrm>
          <a:prstGeom prst="rect">
            <a:avLst/>
          </a:prstGeom>
          <a:noFill/>
          <a:ln/>
        </p:spPr>
        <p:txBody>
          <a:bodyPr wrap="square" lIns="0" tIns="0" rIns="0" bIns="0" rtlCol="0" anchor="ctr"/>
          <a:lstStyle/>
          <a:p>
            <a:pPr marL="0" indent="0" algn="l">
              <a:buNone/>
            </a:pPr>
            <a:r>
              <a:rPr lang="en-US" sz="5200" b="1" dirty="0">
                <a:solidFill>
                  <a:srgbClr val="FFFFFF"/>
                </a:solidFill>
                <a:latin typeface="Calibri" pitchFamily="34" charset="0"/>
                <a:ea typeface="Calibri" pitchFamily="34" charset="-122"/>
                <a:cs typeface="Calibri" pitchFamily="34" charset="-120"/>
              </a:rPr>
              <a:t>Momentum Strategy</a:t>
            </a:r>
            <a:endParaRPr lang="en-US" sz="5200" dirty="0"/>
          </a:p>
        </p:txBody>
      </p:sp>
      <p:sp>
        <p:nvSpPr>
          <p:cNvPr id="4" name="Text 2"/>
          <p:cNvSpPr/>
          <p:nvPr/>
        </p:nvSpPr>
        <p:spPr>
          <a:xfrm>
            <a:off x="457200" y="2011680"/>
            <a:ext cx="7772400" cy="822960"/>
          </a:xfrm>
          <a:prstGeom prst="rect">
            <a:avLst/>
          </a:prstGeom>
          <a:noFill/>
          <a:ln/>
        </p:spPr>
        <p:txBody>
          <a:bodyPr wrap="square" rtlCol="0" anchor="ctr"/>
          <a:lstStyle/>
          <a:p>
            <a:pPr marL="0" indent="0" algn="l">
              <a:buNone/>
            </a:pPr>
            <a:r>
              <a:rPr lang="en-US" sz="1800" dirty="0">
                <a:solidFill>
                  <a:srgbClr val="4FC3F7"/>
                </a:solidFill>
                <a:latin typeface="Calibri" pitchFamily="34" charset="0"/>
                <a:ea typeface="Calibri" pitchFamily="34" charset="-122"/>
                <a:cs typeface="Calibri" pitchFamily="34" charset="-120"/>
              </a:rPr>
              <a:t>This is my presentation on how I used a momentum strategy to calculate returns for the future</a:t>
            </a:r>
            <a:endParaRPr lang="en-US" sz="1800" dirty="0"/>
          </a:p>
        </p:txBody>
      </p:sp>
      <p:sp>
        <p:nvSpPr>
          <p:cNvPr id="5" name="Shape 3"/>
          <p:cNvSpPr/>
          <p:nvPr/>
        </p:nvSpPr>
        <p:spPr>
          <a:xfrm>
            <a:off x="457200" y="3017520"/>
            <a:ext cx="8229600" cy="36576"/>
          </a:xfrm>
          <a:prstGeom prst="rect">
            <a:avLst/>
          </a:prstGeom>
          <a:solidFill>
            <a:srgbClr val="1E3A5F"/>
          </a:solidFill>
          <a:ln/>
        </p:spPr>
        <p:txBody>
          <a:bodyPr/>
          <a:lstStyle/>
          <a:p>
            <a:endParaRPr lang="en-IE"/>
          </a:p>
        </p:txBody>
      </p:sp>
      <p:sp>
        <p:nvSpPr>
          <p:cNvPr id="6" name="Text 4"/>
          <p:cNvSpPr/>
          <p:nvPr/>
        </p:nvSpPr>
        <p:spPr>
          <a:xfrm>
            <a:off x="457200" y="3200400"/>
            <a:ext cx="8229600" cy="365760"/>
          </a:xfrm>
          <a:prstGeom prst="rect">
            <a:avLst/>
          </a:prstGeom>
          <a:noFill/>
          <a:ln/>
        </p:spPr>
        <p:txBody>
          <a:bodyPr wrap="square" rtlCol="0" anchor="ctr"/>
          <a:lstStyle/>
          <a:p>
            <a:pPr marL="0" indent="0" algn="l">
              <a:buNone/>
            </a:pPr>
            <a:r>
              <a:rPr lang="en-US" sz="1300" dirty="0">
                <a:solidFill>
                  <a:srgbClr val="64748B"/>
                </a:solidFill>
                <a:latin typeface="Calibri" pitchFamily="34" charset="0"/>
                <a:ea typeface="Calibri" pitchFamily="34" charset="-122"/>
                <a:cs typeface="Calibri" pitchFamily="34" charset="-120"/>
              </a:rPr>
              <a:t>TY Work Experience – Joshua Bucur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3FB"/>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94360"/>
          </a:xfrm>
          <a:prstGeom prst="rect">
            <a:avLst/>
          </a:prstGeom>
          <a:noFill/>
          <a:ln/>
        </p:spPr>
        <p:txBody>
          <a:bodyPr wrap="square" lIns="0" tIns="0" rIns="0" bIns="0" rtlCol="0" anchor="ctr"/>
          <a:lstStyle/>
          <a:p>
            <a:pPr marL="0" indent="0" algn="l">
              <a:buNone/>
            </a:pPr>
            <a:r>
              <a:rPr lang="en-US" sz="3000" b="1" dirty="0">
                <a:solidFill>
                  <a:srgbClr val="0F1F3D"/>
                </a:solidFill>
                <a:latin typeface="Calibri" pitchFamily="34" charset="0"/>
                <a:ea typeface="Calibri" pitchFamily="34" charset="-122"/>
                <a:cs typeface="Calibri" pitchFamily="34" charset="-120"/>
              </a:rPr>
              <a:t>What is a Momentum Strategy?</a:t>
            </a:r>
            <a:endParaRPr lang="en-US" sz="3000" dirty="0"/>
          </a:p>
        </p:txBody>
      </p:sp>
      <p:sp>
        <p:nvSpPr>
          <p:cNvPr id="3" name="Shape 1"/>
          <p:cNvSpPr/>
          <p:nvPr/>
        </p:nvSpPr>
        <p:spPr>
          <a:xfrm>
            <a:off x="274320" y="914400"/>
            <a:ext cx="4023360" cy="3840480"/>
          </a:xfrm>
          <a:prstGeom prst="rect">
            <a:avLst/>
          </a:prstGeom>
          <a:solidFill>
            <a:srgbClr val="0F1F3D"/>
          </a:solidFill>
          <a:ln/>
          <a:effectLst>
            <a:outerShdw blurRad="76200" dist="25400" dir="8100000" algn="bl" rotWithShape="0">
              <a:srgbClr val="000000">
                <a:alpha val="10000"/>
              </a:srgbClr>
            </a:outerShdw>
          </a:effectLst>
        </p:spPr>
        <p:txBody>
          <a:bodyPr/>
          <a:lstStyle/>
          <a:p>
            <a:endParaRPr lang="en-IE"/>
          </a:p>
        </p:txBody>
      </p:sp>
      <p:sp>
        <p:nvSpPr>
          <p:cNvPr id="4" name="Text 2"/>
          <p:cNvSpPr/>
          <p:nvPr/>
        </p:nvSpPr>
        <p:spPr>
          <a:xfrm>
            <a:off x="457200" y="1005840"/>
            <a:ext cx="3657600" cy="411480"/>
          </a:xfrm>
          <a:prstGeom prst="rect">
            <a:avLst/>
          </a:prstGeom>
          <a:noFill/>
          <a:ln/>
        </p:spPr>
        <p:txBody>
          <a:bodyPr wrap="square" lIns="0" tIns="0" rIns="0" bIns="0" rtlCol="0" anchor="ctr"/>
          <a:lstStyle/>
          <a:p>
            <a:pPr marL="0" indent="0">
              <a:buNone/>
            </a:pPr>
            <a:r>
              <a:rPr lang="en-US" sz="1600" b="1" dirty="0">
                <a:solidFill>
                  <a:srgbClr val="4FC3F7"/>
                </a:solidFill>
                <a:latin typeface="Calibri" pitchFamily="34" charset="0"/>
                <a:ea typeface="Calibri" pitchFamily="34" charset="-122"/>
                <a:cs typeface="Calibri" pitchFamily="34" charset="-120"/>
              </a:rPr>
              <a:t>The momentum hypothesis</a:t>
            </a:r>
            <a:endParaRPr lang="en-US" sz="1600" dirty="0"/>
          </a:p>
        </p:txBody>
      </p:sp>
      <p:sp>
        <p:nvSpPr>
          <p:cNvPr id="5" name="Shape 3"/>
          <p:cNvSpPr/>
          <p:nvPr/>
        </p:nvSpPr>
        <p:spPr>
          <a:xfrm>
            <a:off x="457200" y="1444752"/>
            <a:ext cx="3474720" cy="36576"/>
          </a:xfrm>
          <a:prstGeom prst="rect">
            <a:avLst/>
          </a:prstGeom>
          <a:solidFill>
            <a:srgbClr val="4FC3F7"/>
          </a:solidFill>
          <a:ln/>
        </p:spPr>
        <p:txBody>
          <a:bodyPr/>
          <a:lstStyle/>
          <a:p>
            <a:endParaRPr lang="en-IE"/>
          </a:p>
        </p:txBody>
      </p:sp>
      <p:sp>
        <p:nvSpPr>
          <p:cNvPr id="6" name="Text 4"/>
          <p:cNvSpPr/>
          <p:nvPr/>
        </p:nvSpPr>
        <p:spPr>
          <a:xfrm>
            <a:off x="438912" y="1764792"/>
            <a:ext cx="3657600" cy="2194560"/>
          </a:xfrm>
          <a:prstGeom prst="rect">
            <a:avLst/>
          </a:prstGeom>
          <a:noFill/>
          <a:ln/>
        </p:spPr>
        <p:txBody>
          <a:bodyPr wrap="square" rtlCol="0" anchor="ctr"/>
          <a:lstStyle/>
          <a:p>
            <a:r>
              <a:rPr lang="en-US" sz="1250" dirty="0">
                <a:solidFill>
                  <a:srgbClr val="FFFFFF"/>
                </a:solidFill>
                <a:latin typeface="Calibri" pitchFamily="34" charset="0"/>
                <a:ea typeface="Calibri" pitchFamily="34" charset="-122"/>
                <a:cs typeface="Calibri" pitchFamily="34" charset="-120"/>
              </a:rPr>
              <a:t>This </a:t>
            </a:r>
            <a:r>
              <a:rPr lang="en-IE" sz="1400" dirty="0">
                <a:solidFill>
                  <a:schemeClr val="bg1"/>
                </a:solidFill>
              </a:rPr>
              <a:t>the idea that assets that have performed well recently tend to keep outperforming.</a:t>
            </a:r>
          </a:p>
          <a:p>
            <a:endParaRPr lang="en-IE" sz="1400" dirty="0">
              <a:solidFill>
                <a:schemeClr val="bg1"/>
              </a:solidFill>
            </a:endParaRPr>
          </a:p>
          <a:p>
            <a:r>
              <a:rPr lang="en-IE" sz="1400" dirty="0">
                <a:solidFill>
                  <a:schemeClr val="bg1"/>
                </a:solidFill>
              </a:rPr>
              <a:t>And poor performers tend to keep underperforming.</a:t>
            </a:r>
          </a:p>
          <a:p>
            <a:endParaRPr lang="en-IE" sz="1400" dirty="0">
              <a:solidFill>
                <a:schemeClr val="bg1"/>
              </a:solidFill>
            </a:endParaRPr>
          </a:p>
          <a:p>
            <a:r>
              <a:rPr lang="en-IE" sz="1400" dirty="0">
                <a:solidFill>
                  <a:schemeClr val="bg1"/>
                </a:solidFill>
              </a:rPr>
              <a:t>The intuition is that investors are slow to react to new information, causing price trends to persist over medium term horizons.</a:t>
            </a:r>
            <a:endParaRPr lang="en-US" sz="1250" dirty="0">
              <a:solidFill>
                <a:schemeClr val="bg1"/>
              </a:solidFill>
            </a:endParaRPr>
          </a:p>
        </p:txBody>
      </p:sp>
      <p:sp>
        <p:nvSpPr>
          <p:cNvPr id="7" name="Shape 5"/>
          <p:cNvSpPr/>
          <p:nvPr/>
        </p:nvSpPr>
        <p:spPr>
          <a:xfrm>
            <a:off x="4663440" y="914400"/>
            <a:ext cx="4206240" cy="3840480"/>
          </a:xfrm>
          <a:prstGeom prst="rect">
            <a:avLst/>
          </a:prstGeom>
          <a:solidFill>
            <a:srgbClr val="1A3A6B"/>
          </a:solidFill>
          <a:ln/>
          <a:effectLst>
            <a:outerShdw blurRad="76200" dist="25400" dir="8100000" algn="bl" rotWithShape="0">
              <a:srgbClr val="000000">
                <a:alpha val="10000"/>
              </a:srgbClr>
            </a:outerShdw>
          </a:effectLst>
        </p:spPr>
        <p:txBody>
          <a:bodyPr/>
          <a:lstStyle/>
          <a:p>
            <a:endParaRPr lang="en-IE"/>
          </a:p>
        </p:txBody>
      </p:sp>
      <p:sp>
        <p:nvSpPr>
          <p:cNvPr id="8" name="Text 6"/>
          <p:cNvSpPr/>
          <p:nvPr/>
        </p:nvSpPr>
        <p:spPr>
          <a:xfrm>
            <a:off x="4846320" y="1005840"/>
            <a:ext cx="3749040" cy="411480"/>
          </a:xfrm>
          <a:prstGeom prst="rect">
            <a:avLst/>
          </a:prstGeom>
          <a:noFill/>
          <a:ln/>
        </p:spPr>
        <p:txBody>
          <a:bodyPr wrap="square" lIns="0" tIns="0" rIns="0" bIns="0" rtlCol="0" anchor="ctr"/>
          <a:lstStyle/>
          <a:p>
            <a:pPr marL="0" indent="0">
              <a:buNone/>
            </a:pPr>
            <a:r>
              <a:rPr lang="en-US" sz="1600" b="1" dirty="0">
                <a:solidFill>
                  <a:srgbClr val="4FC3F7"/>
                </a:solidFill>
                <a:latin typeface="Calibri" pitchFamily="34" charset="0"/>
                <a:ea typeface="Calibri" pitchFamily="34" charset="-122"/>
                <a:cs typeface="Calibri" pitchFamily="34" charset="-120"/>
              </a:rPr>
              <a:t>How does it work?</a:t>
            </a:r>
            <a:endParaRPr lang="en-US" sz="1600" dirty="0"/>
          </a:p>
        </p:txBody>
      </p:sp>
      <p:sp>
        <p:nvSpPr>
          <p:cNvPr id="9" name="Shape 7"/>
          <p:cNvSpPr/>
          <p:nvPr/>
        </p:nvSpPr>
        <p:spPr>
          <a:xfrm>
            <a:off x="4846320" y="1444752"/>
            <a:ext cx="3657600" cy="36576"/>
          </a:xfrm>
          <a:prstGeom prst="rect">
            <a:avLst/>
          </a:prstGeom>
          <a:solidFill>
            <a:srgbClr val="4FC3F7"/>
          </a:solidFill>
          <a:ln/>
        </p:spPr>
        <p:txBody>
          <a:bodyPr/>
          <a:lstStyle/>
          <a:p>
            <a:endParaRPr lang="en-IE"/>
          </a:p>
        </p:txBody>
      </p:sp>
      <p:sp>
        <p:nvSpPr>
          <p:cNvPr id="10" name="Shape 8"/>
          <p:cNvSpPr/>
          <p:nvPr/>
        </p:nvSpPr>
        <p:spPr>
          <a:xfrm>
            <a:off x="4846320" y="1618488"/>
            <a:ext cx="292608" cy="292608"/>
          </a:xfrm>
          <a:prstGeom prst="ellipse">
            <a:avLst/>
          </a:prstGeom>
          <a:solidFill>
            <a:srgbClr val="4FC3F7"/>
          </a:solidFill>
          <a:ln/>
        </p:spPr>
        <p:txBody>
          <a:bodyPr/>
          <a:lstStyle/>
          <a:p>
            <a:endParaRPr lang="en-IE"/>
          </a:p>
        </p:txBody>
      </p:sp>
      <p:sp>
        <p:nvSpPr>
          <p:cNvPr id="11" name="Text 9"/>
          <p:cNvSpPr/>
          <p:nvPr/>
        </p:nvSpPr>
        <p:spPr>
          <a:xfrm>
            <a:off x="4846320" y="1618488"/>
            <a:ext cx="292608" cy="292608"/>
          </a:xfrm>
          <a:prstGeom prst="rect">
            <a:avLst/>
          </a:prstGeom>
          <a:noFill/>
          <a:ln/>
        </p:spPr>
        <p:txBody>
          <a:bodyPr wrap="square" rtlCol="0" anchor="ctr"/>
          <a:lstStyle/>
          <a:p>
            <a:pPr marL="0" indent="0" algn="ctr">
              <a:buNone/>
            </a:pPr>
            <a:r>
              <a:rPr lang="en-US" sz="1000" b="1" dirty="0">
                <a:solidFill>
                  <a:srgbClr val="0F1F3D"/>
                </a:solidFill>
                <a:latin typeface="Calibri" pitchFamily="34" charset="0"/>
                <a:ea typeface="Calibri" pitchFamily="34" charset="-122"/>
                <a:cs typeface="Calibri" pitchFamily="34" charset="-120"/>
              </a:rPr>
              <a:t>1</a:t>
            </a:r>
            <a:endParaRPr lang="en-US" sz="1000" dirty="0"/>
          </a:p>
        </p:txBody>
      </p:sp>
      <p:sp>
        <p:nvSpPr>
          <p:cNvPr id="12" name="Text 10"/>
          <p:cNvSpPr/>
          <p:nvPr/>
        </p:nvSpPr>
        <p:spPr>
          <a:xfrm>
            <a:off x="5230368" y="1572768"/>
            <a:ext cx="3474720" cy="5029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Look back 12 months at all 11 ETFs</a:t>
            </a:r>
            <a:endParaRPr lang="en-US" sz="1150" dirty="0"/>
          </a:p>
        </p:txBody>
      </p:sp>
      <p:sp>
        <p:nvSpPr>
          <p:cNvPr id="13" name="Shape 11"/>
          <p:cNvSpPr/>
          <p:nvPr/>
        </p:nvSpPr>
        <p:spPr>
          <a:xfrm>
            <a:off x="4846320" y="2231136"/>
            <a:ext cx="292608" cy="292608"/>
          </a:xfrm>
          <a:prstGeom prst="ellipse">
            <a:avLst/>
          </a:prstGeom>
          <a:solidFill>
            <a:srgbClr val="4FC3F7"/>
          </a:solidFill>
          <a:ln/>
        </p:spPr>
        <p:txBody>
          <a:bodyPr/>
          <a:lstStyle/>
          <a:p>
            <a:endParaRPr lang="en-IE"/>
          </a:p>
        </p:txBody>
      </p:sp>
      <p:sp>
        <p:nvSpPr>
          <p:cNvPr id="14" name="Text 12"/>
          <p:cNvSpPr/>
          <p:nvPr/>
        </p:nvSpPr>
        <p:spPr>
          <a:xfrm>
            <a:off x="4846320" y="2231136"/>
            <a:ext cx="292608" cy="292608"/>
          </a:xfrm>
          <a:prstGeom prst="rect">
            <a:avLst/>
          </a:prstGeom>
          <a:noFill/>
          <a:ln/>
        </p:spPr>
        <p:txBody>
          <a:bodyPr wrap="square" rtlCol="0" anchor="ctr"/>
          <a:lstStyle/>
          <a:p>
            <a:pPr marL="0" indent="0" algn="ctr">
              <a:buNone/>
            </a:pPr>
            <a:r>
              <a:rPr lang="en-US" sz="1000" b="1" dirty="0">
                <a:solidFill>
                  <a:srgbClr val="0F1F3D"/>
                </a:solidFill>
                <a:latin typeface="Calibri" pitchFamily="34" charset="0"/>
                <a:ea typeface="Calibri" pitchFamily="34" charset="-122"/>
                <a:cs typeface="Calibri" pitchFamily="34" charset="-120"/>
              </a:rPr>
              <a:t>2</a:t>
            </a:r>
            <a:endParaRPr lang="en-US" sz="1000" dirty="0"/>
          </a:p>
        </p:txBody>
      </p:sp>
      <p:sp>
        <p:nvSpPr>
          <p:cNvPr id="15" name="Text 13"/>
          <p:cNvSpPr/>
          <p:nvPr/>
        </p:nvSpPr>
        <p:spPr>
          <a:xfrm>
            <a:off x="5230368" y="2185416"/>
            <a:ext cx="3474720" cy="5029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Skip the most recent month to prevent look ahead bias</a:t>
            </a:r>
            <a:endParaRPr lang="en-US" sz="1150" dirty="0"/>
          </a:p>
        </p:txBody>
      </p:sp>
      <p:sp>
        <p:nvSpPr>
          <p:cNvPr id="16" name="Shape 14"/>
          <p:cNvSpPr/>
          <p:nvPr/>
        </p:nvSpPr>
        <p:spPr>
          <a:xfrm>
            <a:off x="4846320" y="2843784"/>
            <a:ext cx="292608" cy="292608"/>
          </a:xfrm>
          <a:prstGeom prst="ellipse">
            <a:avLst/>
          </a:prstGeom>
          <a:solidFill>
            <a:srgbClr val="4FC3F7"/>
          </a:solidFill>
          <a:ln/>
        </p:spPr>
        <p:txBody>
          <a:bodyPr/>
          <a:lstStyle/>
          <a:p>
            <a:endParaRPr lang="en-IE"/>
          </a:p>
        </p:txBody>
      </p:sp>
      <p:sp>
        <p:nvSpPr>
          <p:cNvPr id="17" name="Text 15"/>
          <p:cNvSpPr/>
          <p:nvPr/>
        </p:nvSpPr>
        <p:spPr>
          <a:xfrm>
            <a:off x="4846320" y="2843784"/>
            <a:ext cx="292608" cy="292608"/>
          </a:xfrm>
          <a:prstGeom prst="rect">
            <a:avLst/>
          </a:prstGeom>
          <a:noFill/>
          <a:ln/>
        </p:spPr>
        <p:txBody>
          <a:bodyPr wrap="square" rtlCol="0" anchor="ctr"/>
          <a:lstStyle/>
          <a:p>
            <a:pPr marL="0" indent="0" algn="ctr">
              <a:buNone/>
            </a:pPr>
            <a:r>
              <a:rPr lang="en-US" sz="1000" b="1" dirty="0">
                <a:solidFill>
                  <a:srgbClr val="0F1F3D"/>
                </a:solidFill>
                <a:latin typeface="Calibri" pitchFamily="34" charset="0"/>
                <a:ea typeface="Calibri" pitchFamily="34" charset="-122"/>
                <a:cs typeface="Calibri" pitchFamily="34" charset="-120"/>
              </a:rPr>
              <a:t>3</a:t>
            </a:r>
            <a:endParaRPr lang="en-US" sz="1000" dirty="0"/>
          </a:p>
        </p:txBody>
      </p:sp>
      <p:sp>
        <p:nvSpPr>
          <p:cNvPr id="18" name="Text 16"/>
          <p:cNvSpPr/>
          <p:nvPr/>
        </p:nvSpPr>
        <p:spPr>
          <a:xfrm>
            <a:off x="5230368" y="2798064"/>
            <a:ext cx="3474720" cy="5029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Pick the top 3 performers</a:t>
            </a:r>
            <a:endParaRPr lang="en-US" sz="1150" dirty="0"/>
          </a:p>
        </p:txBody>
      </p:sp>
      <p:sp>
        <p:nvSpPr>
          <p:cNvPr id="19" name="Shape 17"/>
          <p:cNvSpPr/>
          <p:nvPr/>
        </p:nvSpPr>
        <p:spPr>
          <a:xfrm>
            <a:off x="4846320" y="3456432"/>
            <a:ext cx="292608" cy="292608"/>
          </a:xfrm>
          <a:prstGeom prst="ellipse">
            <a:avLst/>
          </a:prstGeom>
          <a:solidFill>
            <a:srgbClr val="4FC3F7"/>
          </a:solidFill>
          <a:ln/>
        </p:spPr>
        <p:txBody>
          <a:bodyPr/>
          <a:lstStyle/>
          <a:p>
            <a:endParaRPr lang="en-IE"/>
          </a:p>
        </p:txBody>
      </p:sp>
      <p:sp>
        <p:nvSpPr>
          <p:cNvPr id="20" name="Text 18"/>
          <p:cNvSpPr/>
          <p:nvPr/>
        </p:nvSpPr>
        <p:spPr>
          <a:xfrm>
            <a:off x="4846320" y="3456432"/>
            <a:ext cx="292608" cy="292608"/>
          </a:xfrm>
          <a:prstGeom prst="rect">
            <a:avLst/>
          </a:prstGeom>
          <a:noFill/>
          <a:ln/>
        </p:spPr>
        <p:txBody>
          <a:bodyPr wrap="square" rtlCol="0" anchor="ctr"/>
          <a:lstStyle/>
          <a:p>
            <a:pPr marL="0" indent="0" algn="ctr">
              <a:buNone/>
            </a:pPr>
            <a:r>
              <a:rPr lang="en-US" sz="1000" b="1" dirty="0">
                <a:solidFill>
                  <a:srgbClr val="0F1F3D"/>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5230368" y="3410712"/>
            <a:ext cx="3474720" cy="5029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Put one third of your money into each</a:t>
            </a:r>
            <a:endParaRPr lang="en-US" sz="1150" dirty="0"/>
          </a:p>
        </p:txBody>
      </p:sp>
      <p:sp>
        <p:nvSpPr>
          <p:cNvPr id="22" name="Shape 20"/>
          <p:cNvSpPr/>
          <p:nvPr/>
        </p:nvSpPr>
        <p:spPr>
          <a:xfrm>
            <a:off x="4846320" y="4069080"/>
            <a:ext cx="292608" cy="292608"/>
          </a:xfrm>
          <a:prstGeom prst="ellipse">
            <a:avLst/>
          </a:prstGeom>
          <a:solidFill>
            <a:srgbClr val="4FC3F7"/>
          </a:solidFill>
          <a:ln/>
        </p:spPr>
        <p:txBody>
          <a:bodyPr/>
          <a:lstStyle/>
          <a:p>
            <a:endParaRPr lang="en-IE"/>
          </a:p>
        </p:txBody>
      </p:sp>
      <p:sp>
        <p:nvSpPr>
          <p:cNvPr id="23" name="Text 21"/>
          <p:cNvSpPr/>
          <p:nvPr/>
        </p:nvSpPr>
        <p:spPr>
          <a:xfrm>
            <a:off x="4846320" y="4069080"/>
            <a:ext cx="292608" cy="292608"/>
          </a:xfrm>
          <a:prstGeom prst="rect">
            <a:avLst/>
          </a:prstGeom>
          <a:noFill/>
          <a:ln/>
        </p:spPr>
        <p:txBody>
          <a:bodyPr wrap="square" rtlCol="0" anchor="ctr"/>
          <a:lstStyle/>
          <a:p>
            <a:pPr marL="0" indent="0" algn="ctr">
              <a:buNone/>
            </a:pPr>
            <a:r>
              <a:rPr lang="en-US" sz="1000" b="1" dirty="0">
                <a:solidFill>
                  <a:srgbClr val="0F1F3D"/>
                </a:solidFill>
                <a:latin typeface="Calibri" pitchFamily="34" charset="0"/>
                <a:ea typeface="Calibri" pitchFamily="34" charset="-122"/>
                <a:cs typeface="Calibri" pitchFamily="34" charset="-120"/>
              </a:rPr>
              <a:t>5</a:t>
            </a:r>
            <a:endParaRPr lang="en-US" sz="1000" dirty="0"/>
          </a:p>
        </p:txBody>
      </p:sp>
      <p:sp>
        <p:nvSpPr>
          <p:cNvPr id="24" name="Text 22"/>
          <p:cNvSpPr/>
          <p:nvPr/>
        </p:nvSpPr>
        <p:spPr>
          <a:xfrm>
            <a:off x="5230368" y="4023360"/>
            <a:ext cx="3474720" cy="5029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Repeat every month</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94360"/>
          </a:xfrm>
          <a:prstGeom prst="rect">
            <a:avLst/>
          </a:prstGeom>
          <a:noFill/>
          <a:ln/>
        </p:spPr>
        <p:txBody>
          <a:bodyPr wrap="square" lIns="0" tIns="0" rIns="0" bIns="0" rtlCol="0" anchor="ctr"/>
          <a:lstStyle/>
          <a:p>
            <a:pPr marL="0" indent="0" algn="l">
              <a:buNone/>
            </a:pPr>
            <a:r>
              <a:rPr lang="en-US" sz="3000" b="1" dirty="0">
                <a:solidFill>
                  <a:srgbClr val="0F1F3D"/>
                </a:solidFill>
                <a:latin typeface="Calibri" pitchFamily="34" charset="0"/>
                <a:ea typeface="Calibri" pitchFamily="34" charset="-122"/>
                <a:cs typeface="Calibri" pitchFamily="34" charset="-120"/>
              </a:rPr>
              <a:t>Data &amp; Signal Construction</a:t>
            </a:r>
            <a:endParaRPr lang="en-US" sz="3000" dirty="0"/>
          </a:p>
        </p:txBody>
      </p:sp>
      <p:sp>
        <p:nvSpPr>
          <p:cNvPr id="3" name="Text 1"/>
          <p:cNvSpPr/>
          <p:nvPr/>
        </p:nvSpPr>
        <p:spPr>
          <a:xfrm>
            <a:off x="365760" y="822960"/>
            <a:ext cx="8412480" cy="365760"/>
          </a:xfrm>
          <a:prstGeom prst="rect">
            <a:avLst/>
          </a:prstGeom>
          <a:noFill/>
          <a:ln/>
        </p:spPr>
        <p:txBody>
          <a:bodyPr wrap="square"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I downloaded 20 years price data and then built the momentum signal.</a:t>
            </a:r>
            <a:endParaRPr lang="en-US" sz="1400" dirty="0"/>
          </a:p>
        </p:txBody>
      </p:sp>
      <p:sp>
        <p:nvSpPr>
          <p:cNvPr id="4" name="Shape 2"/>
          <p:cNvSpPr/>
          <p:nvPr/>
        </p:nvSpPr>
        <p:spPr>
          <a:xfrm>
            <a:off x="274320" y="1325880"/>
            <a:ext cx="4160520" cy="1645920"/>
          </a:xfrm>
          <a:prstGeom prst="rect">
            <a:avLst/>
          </a:prstGeom>
          <a:solidFill>
            <a:srgbClr val="0F1F3D"/>
          </a:solidFill>
          <a:ln/>
          <a:effectLst>
            <a:outerShdw blurRad="76200" dist="25400" dir="8100000" algn="bl" rotWithShape="0">
              <a:srgbClr val="000000">
                <a:alpha val="10000"/>
              </a:srgbClr>
            </a:outerShdw>
          </a:effectLst>
        </p:spPr>
        <p:txBody>
          <a:bodyPr/>
          <a:lstStyle/>
          <a:p>
            <a:endParaRPr lang="en-IE"/>
          </a:p>
        </p:txBody>
      </p:sp>
      <p:sp>
        <p:nvSpPr>
          <p:cNvPr id="5" name="Text 3"/>
          <p:cNvSpPr/>
          <p:nvPr/>
        </p:nvSpPr>
        <p:spPr>
          <a:xfrm>
            <a:off x="457200" y="1435608"/>
            <a:ext cx="3749040" cy="384048"/>
          </a:xfrm>
          <a:prstGeom prst="rect">
            <a:avLst/>
          </a:prstGeom>
          <a:noFill/>
          <a:ln/>
        </p:spPr>
        <p:txBody>
          <a:bodyPr wrap="square" lIns="0" tIns="0" rIns="0" bIns="0"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Adjusted Close vs Regular Close</a:t>
            </a:r>
            <a:endParaRPr lang="en-US" sz="1300" dirty="0"/>
          </a:p>
        </p:txBody>
      </p:sp>
      <p:sp>
        <p:nvSpPr>
          <p:cNvPr id="6" name="Shape 4"/>
          <p:cNvSpPr/>
          <p:nvPr/>
        </p:nvSpPr>
        <p:spPr>
          <a:xfrm>
            <a:off x="457200" y="1847088"/>
            <a:ext cx="3566160" cy="27432"/>
          </a:xfrm>
          <a:prstGeom prst="rect">
            <a:avLst/>
          </a:prstGeom>
          <a:solidFill>
            <a:srgbClr val="4FC3F7"/>
          </a:solidFill>
          <a:ln/>
        </p:spPr>
        <p:txBody>
          <a:bodyPr/>
          <a:lstStyle/>
          <a:p>
            <a:endParaRPr lang="en-IE"/>
          </a:p>
        </p:txBody>
      </p:sp>
      <p:sp>
        <p:nvSpPr>
          <p:cNvPr id="7" name="Text 5"/>
          <p:cNvSpPr/>
          <p:nvPr/>
        </p:nvSpPr>
        <p:spPr>
          <a:xfrm>
            <a:off x="457200" y="1947672"/>
            <a:ext cx="3749040" cy="914400"/>
          </a:xfrm>
          <a:prstGeom prst="rect">
            <a:avLst/>
          </a:prstGeom>
          <a:noFill/>
          <a:ln/>
        </p:spPr>
        <p:txBody>
          <a:bodyPr wrap="square" rtlCol="0" anchor="ctr"/>
          <a:lstStyle/>
          <a:p>
            <a:r>
              <a:rPr lang="en-US" sz="1150" dirty="0">
                <a:solidFill>
                  <a:schemeClr val="bg1"/>
                </a:solidFill>
              </a:rPr>
              <a:t>I used Adjusted Close not regular Close. Over 20 years ignoring dividends would have seriously understated returns</a:t>
            </a:r>
          </a:p>
        </p:txBody>
      </p:sp>
      <p:sp>
        <p:nvSpPr>
          <p:cNvPr id="8" name="Shape 6"/>
          <p:cNvSpPr/>
          <p:nvPr/>
        </p:nvSpPr>
        <p:spPr>
          <a:xfrm>
            <a:off x="4709160" y="1325880"/>
            <a:ext cx="4160520" cy="1645920"/>
          </a:xfrm>
          <a:prstGeom prst="rect">
            <a:avLst/>
          </a:prstGeom>
          <a:solidFill>
            <a:srgbClr val="1A3A6B"/>
          </a:solidFill>
          <a:ln/>
          <a:effectLst>
            <a:outerShdw blurRad="76200" dist="25400" dir="8100000" algn="bl" rotWithShape="0">
              <a:srgbClr val="000000">
                <a:alpha val="10000"/>
              </a:srgbClr>
            </a:outerShdw>
          </a:effectLst>
        </p:spPr>
        <p:txBody>
          <a:bodyPr/>
          <a:lstStyle/>
          <a:p>
            <a:endParaRPr lang="en-IE"/>
          </a:p>
        </p:txBody>
      </p:sp>
      <p:sp>
        <p:nvSpPr>
          <p:cNvPr id="9" name="Text 7"/>
          <p:cNvSpPr/>
          <p:nvPr/>
        </p:nvSpPr>
        <p:spPr>
          <a:xfrm>
            <a:off x="4892040" y="1435608"/>
            <a:ext cx="3749040" cy="384048"/>
          </a:xfrm>
          <a:prstGeom prst="rect">
            <a:avLst/>
          </a:prstGeom>
          <a:noFill/>
          <a:ln/>
        </p:spPr>
        <p:txBody>
          <a:bodyPr wrap="square" lIns="0" tIns="0" rIns="0" bIns="0"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Data Source</a:t>
            </a:r>
            <a:endParaRPr lang="en-US" sz="1300" dirty="0"/>
          </a:p>
        </p:txBody>
      </p:sp>
      <p:sp>
        <p:nvSpPr>
          <p:cNvPr id="10" name="Shape 8"/>
          <p:cNvSpPr/>
          <p:nvPr/>
        </p:nvSpPr>
        <p:spPr>
          <a:xfrm>
            <a:off x="4892040" y="1847088"/>
            <a:ext cx="3566160" cy="27432"/>
          </a:xfrm>
          <a:prstGeom prst="rect">
            <a:avLst/>
          </a:prstGeom>
          <a:solidFill>
            <a:srgbClr val="4FC3F7"/>
          </a:solidFill>
          <a:ln/>
        </p:spPr>
        <p:txBody>
          <a:bodyPr/>
          <a:lstStyle/>
          <a:p>
            <a:endParaRPr lang="en-IE"/>
          </a:p>
        </p:txBody>
      </p:sp>
      <p:sp>
        <p:nvSpPr>
          <p:cNvPr id="11" name="Text 9"/>
          <p:cNvSpPr/>
          <p:nvPr/>
        </p:nvSpPr>
        <p:spPr>
          <a:xfrm>
            <a:off x="4892040" y="1947672"/>
            <a:ext cx="3749040" cy="9144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All price data was downloaded from Yahoo Finance, which is a trustable source</a:t>
            </a:r>
            <a:endParaRPr lang="en-US" sz="1150" dirty="0"/>
          </a:p>
        </p:txBody>
      </p:sp>
      <p:sp>
        <p:nvSpPr>
          <p:cNvPr id="12" name="Shape 10"/>
          <p:cNvSpPr/>
          <p:nvPr/>
        </p:nvSpPr>
        <p:spPr>
          <a:xfrm>
            <a:off x="274320" y="3154680"/>
            <a:ext cx="4160520" cy="1645920"/>
          </a:xfrm>
          <a:prstGeom prst="rect">
            <a:avLst/>
          </a:prstGeom>
          <a:solidFill>
            <a:srgbClr val="1E3A5F"/>
          </a:solidFill>
          <a:ln/>
          <a:effectLst>
            <a:outerShdw blurRad="76200" dist="25400" dir="8100000" algn="bl" rotWithShape="0">
              <a:srgbClr val="000000">
                <a:alpha val="10000"/>
              </a:srgbClr>
            </a:outerShdw>
          </a:effectLst>
        </p:spPr>
        <p:txBody>
          <a:bodyPr/>
          <a:lstStyle/>
          <a:p>
            <a:endParaRPr lang="en-IE"/>
          </a:p>
        </p:txBody>
      </p:sp>
      <p:sp>
        <p:nvSpPr>
          <p:cNvPr id="13" name="Text 11"/>
          <p:cNvSpPr/>
          <p:nvPr/>
        </p:nvSpPr>
        <p:spPr>
          <a:xfrm>
            <a:off x="457200" y="3264408"/>
            <a:ext cx="3749040" cy="384048"/>
          </a:xfrm>
          <a:prstGeom prst="rect">
            <a:avLst/>
          </a:prstGeom>
          <a:noFill/>
          <a:ln/>
        </p:spPr>
        <p:txBody>
          <a:bodyPr wrap="square" lIns="0" tIns="0" rIns="0" bIns="0"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Missing Data — XLC &amp; XLRE</a:t>
            </a:r>
            <a:endParaRPr lang="en-US" sz="1300" dirty="0"/>
          </a:p>
        </p:txBody>
      </p:sp>
      <p:sp>
        <p:nvSpPr>
          <p:cNvPr id="14" name="Shape 12"/>
          <p:cNvSpPr/>
          <p:nvPr/>
        </p:nvSpPr>
        <p:spPr>
          <a:xfrm>
            <a:off x="457200" y="3675888"/>
            <a:ext cx="3566160" cy="27432"/>
          </a:xfrm>
          <a:prstGeom prst="rect">
            <a:avLst/>
          </a:prstGeom>
          <a:solidFill>
            <a:srgbClr val="4FC3F7"/>
          </a:solidFill>
          <a:ln/>
        </p:spPr>
        <p:txBody>
          <a:bodyPr/>
          <a:lstStyle/>
          <a:p>
            <a:endParaRPr lang="en-IE"/>
          </a:p>
        </p:txBody>
      </p:sp>
      <p:sp>
        <p:nvSpPr>
          <p:cNvPr id="15" name="Text 13"/>
          <p:cNvSpPr/>
          <p:nvPr/>
        </p:nvSpPr>
        <p:spPr>
          <a:xfrm>
            <a:off x="457200" y="3776472"/>
            <a:ext cx="3749040" cy="9144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XLC and XLRE launched after 2005, so they have gaps at the start of the dataset. </a:t>
            </a:r>
            <a:endParaRPr lang="en-US" sz="1150" dirty="0"/>
          </a:p>
        </p:txBody>
      </p:sp>
      <p:sp>
        <p:nvSpPr>
          <p:cNvPr id="16" name="Shape 14"/>
          <p:cNvSpPr/>
          <p:nvPr/>
        </p:nvSpPr>
        <p:spPr>
          <a:xfrm>
            <a:off x="4709160" y="3154680"/>
            <a:ext cx="4160520" cy="1645920"/>
          </a:xfrm>
          <a:prstGeom prst="rect">
            <a:avLst/>
          </a:prstGeom>
          <a:solidFill>
            <a:srgbClr val="0D2B52"/>
          </a:solidFill>
          <a:ln/>
          <a:effectLst>
            <a:outerShdw blurRad="76200" dist="25400" dir="8100000" algn="bl" rotWithShape="0">
              <a:srgbClr val="000000">
                <a:alpha val="10000"/>
              </a:srgbClr>
            </a:outerShdw>
          </a:effectLst>
        </p:spPr>
        <p:txBody>
          <a:bodyPr/>
          <a:lstStyle/>
          <a:p>
            <a:endParaRPr lang="en-IE"/>
          </a:p>
        </p:txBody>
      </p:sp>
      <p:sp>
        <p:nvSpPr>
          <p:cNvPr id="17" name="Text 15"/>
          <p:cNvSpPr/>
          <p:nvPr/>
        </p:nvSpPr>
        <p:spPr>
          <a:xfrm>
            <a:off x="4892040" y="3264408"/>
            <a:ext cx="3749040" cy="384048"/>
          </a:xfrm>
          <a:prstGeom prst="rect">
            <a:avLst/>
          </a:prstGeom>
          <a:noFill/>
          <a:ln/>
        </p:spPr>
        <p:txBody>
          <a:bodyPr wrap="square" lIns="0" tIns="0" rIns="0" bIns="0"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The Signal</a:t>
            </a:r>
            <a:endParaRPr lang="en-US" sz="1300" dirty="0"/>
          </a:p>
        </p:txBody>
      </p:sp>
      <p:sp>
        <p:nvSpPr>
          <p:cNvPr id="18" name="Shape 16"/>
          <p:cNvSpPr/>
          <p:nvPr/>
        </p:nvSpPr>
        <p:spPr>
          <a:xfrm>
            <a:off x="4892040" y="3675888"/>
            <a:ext cx="3566160" cy="27432"/>
          </a:xfrm>
          <a:prstGeom prst="rect">
            <a:avLst/>
          </a:prstGeom>
          <a:solidFill>
            <a:srgbClr val="4FC3F7"/>
          </a:solidFill>
          <a:ln/>
        </p:spPr>
        <p:txBody>
          <a:bodyPr/>
          <a:lstStyle/>
          <a:p>
            <a:endParaRPr lang="en-IE"/>
          </a:p>
        </p:txBody>
      </p:sp>
      <p:sp>
        <p:nvSpPr>
          <p:cNvPr id="19" name="Text 17"/>
          <p:cNvSpPr/>
          <p:nvPr/>
        </p:nvSpPr>
        <p:spPr>
          <a:xfrm>
            <a:off x="4892040" y="3776472"/>
            <a:ext cx="3749040" cy="9144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Every month I picked the 3 best performing sectors from the last 12 months and invested equally in them — one third each.</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572"/>
            <a:ext cx="9144000" cy="914400"/>
          </a:xfrm>
          <a:prstGeom prst="rect">
            <a:avLst/>
          </a:prstGeom>
          <a:solidFill>
            <a:srgbClr val="0F1F3D"/>
          </a:solidFill>
          <a:ln/>
        </p:spPr>
        <p:txBody>
          <a:bodyPr/>
          <a:lstStyle/>
          <a:p>
            <a:endParaRPr lang="en-IE"/>
          </a:p>
        </p:txBody>
      </p:sp>
      <p:sp>
        <p:nvSpPr>
          <p:cNvPr id="3" name="Text 1"/>
          <p:cNvSpPr/>
          <p:nvPr/>
        </p:nvSpPr>
        <p:spPr>
          <a:xfrm>
            <a:off x="365760" y="73152"/>
            <a:ext cx="6400800" cy="43891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How much each sector grew</a:t>
            </a:r>
            <a:endParaRPr lang="en-US" sz="2200" dirty="0"/>
          </a:p>
        </p:txBody>
      </p:sp>
      <p:sp>
        <p:nvSpPr>
          <p:cNvPr id="4" name="Text 2"/>
          <p:cNvSpPr/>
          <p:nvPr/>
        </p:nvSpPr>
        <p:spPr>
          <a:xfrm>
            <a:off x="365760" y="512064"/>
            <a:ext cx="6400800" cy="320040"/>
          </a:xfrm>
          <a:prstGeom prst="rect">
            <a:avLst/>
          </a:prstGeom>
          <a:noFill/>
          <a:ln/>
        </p:spPr>
        <p:txBody>
          <a:bodyPr wrap="square" lIns="0" tIns="0" rIns="0" bIns="0" rtlCol="0" anchor="ctr"/>
          <a:lstStyle/>
          <a:p>
            <a:pPr marL="0" indent="0">
              <a:buNone/>
            </a:pPr>
            <a:r>
              <a:rPr lang="en-US" sz="1200" i="1" dirty="0" err="1">
                <a:solidFill>
                  <a:srgbClr val="4FC3F7"/>
                </a:solidFill>
                <a:latin typeface="Calibri" pitchFamily="34" charset="0"/>
                <a:ea typeface="Calibri" pitchFamily="34" charset="-122"/>
                <a:cs typeface="Calibri" pitchFamily="34" charset="-120"/>
              </a:rPr>
              <a:t>Normalised</a:t>
            </a:r>
            <a:r>
              <a:rPr lang="en-US" sz="1200" i="1" dirty="0">
                <a:solidFill>
                  <a:srgbClr val="4FC3F7"/>
                </a:solidFill>
                <a:latin typeface="Calibri" pitchFamily="34" charset="0"/>
                <a:ea typeface="Calibri" pitchFamily="34" charset="-122"/>
                <a:cs typeface="Calibri" pitchFamily="34" charset="-120"/>
              </a:rPr>
              <a:t> price chart</a:t>
            </a:r>
            <a:endParaRPr lang="en-US" sz="1200" dirty="0"/>
          </a:p>
        </p:txBody>
      </p:sp>
      <p:pic>
        <p:nvPicPr>
          <p:cNvPr id="5" name="Image 0" descr="preencoded.png"/>
          <p:cNvPicPr>
            <a:picLocks noChangeAspect="1"/>
          </p:cNvPicPr>
          <p:nvPr/>
        </p:nvPicPr>
        <p:blipFill>
          <a:blip r:embed="rId3"/>
          <a:srcRect/>
          <a:stretch/>
        </p:blipFill>
        <p:spPr>
          <a:xfrm>
            <a:off x="274320" y="1005840"/>
            <a:ext cx="8595360" cy="3291840"/>
          </a:xfrm>
          <a:prstGeom prst="rect">
            <a:avLst/>
          </a:prstGeom>
        </p:spPr>
      </p:pic>
      <p:sp>
        <p:nvSpPr>
          <p:cNvPr id="6" name="Shape 3"/>
          <p:cNvSpPr/>
          <p:nvPr/>
        </p:nvSpPr>
        <p:spPr>
          <a:xfrm>
            <a:off x="0" y="4407408"/>
            <a:ext cx="9144000" cy="731520"/>
          </a:xfrm>
          <a:prstGeom prst="rect">
            <a:avLst/>
          </a:prstGeom>
          <a:solidFill>
            <a:srgbClr val="EEF3FB"/>
          </a:solidFill>
          <a:ln/>
        </p:spPr>
        <p:txBody>
          <a:bodyPr/>
          <a:lstStyle/>
          <a:p>
            <a:endParaRPr lang="en-IE"/>
          </a:p>
        </p:txBody>
      </p:sp>
      <p:sp>
        <p:nvSpPr>
          <p:cNvPr id="7" name="Text 4"/>
          <p:cNvSpPr/>
          <p:nvPr/>
        </p:nvSpPr>
        <p:spPr>
          <a:xfrm>
            <a:off x="365760" y="4453128"/>
            <a:ext cx="8412480" cy="640080"/>
          </a:xfrm>
          <a:prstGeom prst="rect">
            <a:avLst/>
          </a:prstGeom>
          <a:noFill/>
          <a:ln/>
        </p:spPr>
        <p:txBody>
          <a:bodyPr wrap="square" rtlCol="0" anchor="ctr"/>
          <a:lstStyle/>
          <a:p>
            <a:pPr marL="0" indent="0">
              <a:buNone/>
            </a:pPr>
            <a:r>
              <a:rPr lang="en-US" sz="1200" dirty="0">
                <a:solidFill>
                  <a:srgbClr val="0F1F3D"/>
                </a:solidFill>
                <a:latin typeface="Calibri" pitchFamily="34" charset="0"/>
                <a:ea typeface="Calibri" pitchFamily="34" charset="-122"/>
                <a:cs typeface="Calibri" pitchFamily="34" charset="-120"/>
              </a:rPr>
              <a:t>Tech (XLK) completely dominates over the 20 year period while Energy struggled significantly, crashing around 2014 when oil prices collapsed. The 2008 financial crisis is clearly represented as a drop across every sector simultaneously.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F3D"/>
          </a:solidFill>
          <a:ln/>
        </p:spPr>
        <p:txBody>
          <a:bodyPr/>
          <a:lstStyle/>
          <a:p>
            <a:endParaRPr lang="en-IE"/>
          </a:p>
        </p:txBody>
      </p:sp>
      <p:sp>
        <p:nvSpPr>
          <p:cNvPr id="3" name="Text 1"/>
          <p:cNvSpPr/>
          <p:nvPr/>
        </p:nvSpPr>
        <p:spPr>
          <a:xfrm>
            <a:off x="365760" y="73152"/>
            <a:ext cx="6400800" cy="43891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How similar sectors move together</a:t>
            </a:r>
            <a:endParaRPr lang="en-US" sz="2200" dirty="0"/>
          </a:p>
        </p:txBody>
      </p:sp>
      <p:sp>
        <p:nvSpPr>
          <p:cNvPr id="4" name="Text 2"/>
          <p:cNvSpPr/>
          <p:nvPr/>
        </p:nvSpPr>
        <p:spPr>
          <a:xfrm>
            <a:off x="365760" y="512064"/>
            <a:ext cx="6400800" cy="320040"/>
          </a:xfrm>
          <a:prstGeom prst="rect">
            <a:avLst/>
          </a:prstGeom>
          <a:noFill/>
          <a:ln/>
        </p:spPr>
        <p:txBody>
          <a:bodyPr wrap="square" lIns="0" tIns="0" rIns="0" bIns="0" rtlCol="0" anchor="ctr"/>
          <a:lstStyle/>
          <a:p>
            <a:pPr marL="0" indent="0">
              <a:buNone/>
            </a:pPr>
            <a:r>
              <a:rPr lang="en-US" sz="1200" i="1" dirty="0">
                <a:solidFill>
                  <a:srgbClr val="4FC3F7"/>
                </a:solidFill>
                <a:latin typeface="Calibri" pitchFamily="34" charset="0"/>
                <a:ea typeface="Calibri" pitchFamily="34" charset="-122"/>
                <a:cs typeface="Calibri" pitchFamily="34" charset="-120"/>
              </a:rPr>
              <a:t>Correlation heatmap</a:t>
            </a:r>
            <a:endParaRPr lang="en-US" sz="1200" dirty="0"/>
          </a:p>
        </p:txBody>
      </p:sp>
      <p:pic>
        <p:nvPicPr>
          <p:cNvPr id="5" name="Image 0" descr="preencoded.png"/>
          <p:cNvPicPr>
            <a:picLocks noChangeAspect="1"/>
          </p:cNvPicPr>
          <p:nvPr/>
        </p:nvPicPr>
        <p:blipFill>
          <a:blip r:embed="rId3"/>
          <a:srcRect/>
          <a:stretch/>
        </p:blipFill>
        <p:spPr>
          <a:xfrm>
            <a:off x="274320" y="1005840"/>
            <a:ext cx="8595360" cy="3291840"/>
          </a:xfrm>
          <a:prstGeom prst="rect">
            <a:avLst/>
          </a:prstGeom>
        </p:spPr>
      </p:pic>
      <p:sp>
        <p:nvSpPr>
          <p:cNvPr id="6" name="Shape 3"/>
          <p:cNvSpPr/>
          <p:nvPr/>
        </p:nvSpPr>
        <p:spPr>
          <a:xfrm>
            <a:off x="0" y="4407408"/>
            <a:ext cx="9144000" cy="731520"/>
          </a:xfrm>
          <a:prstGeom prst="rect">
            <a:avLst/>
          </a:prstGeom>
          <a:solidFill>
            <a:srgbClr val="EEF3FB"/>
          </a:solidFill>
          <a:ln/>
        </p:spPr>
        <p:txBody>
          <a:bodyPr/>
          <a:lstStyle/>
          <a:p>
            <a:endParaRPr lang="en-IE"/>
          </a:p>
        </p:txBody>
      </p:sp>
      <p:sp>
        <p:nvSpPr>
          <p:cNvPr id="7" name="Text 4"/>
          <p:cNvSpPr/>
          <p:nvPr/>
        </p:nvSpPr>
        <p:spPr>
          <a:xfrm>
            <a:off x="365760" y="4453128"/>
            <a:ext cx="8412480" cy="640080"/>
          </a:xfrm>
          <a:prstGeom prst="rect">
            <a:avLst/>
          </a:prstGeom>
          <a:noFill/>
          <a:ln/>
        </p:spPr>
        <p:txBody>
          <a:bodyPr wrap="square" rtlCol="0" anchor="ctr"/>
          <a:lstStyle/>
          <a:p>
            <a:pPr marL="0" indent="0">
              <a:buNone/>
            </a:pPr>
            <a:r>
              <a:rPr lang="en-US" sz="1200" dirty="0">
                <a:solidFill>
                  <a:srgbClr val="0F1F3D"/>
                </a:solidFill>
                <a:latin typeface="Calibri" pitchFamily="34" charset="0"/>
                <a:ea typeface="Calibri" pitchFamily="34" charset="-122"/>
                <a:cs typeface="Calibri" pitchFamily="34" charset="-120"/>
              </a:rPr>
              <a:t>Tech (XLK) and Communications (XLC) are highly correlated at 0.85 while Utilities and Energy are the least correlated as they are driven by interest rates and oil prices rather than the broader market.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F3D"/>
          </a:solidFill>
          <a:ln/>
        </p:spPr>
        <p:txBody>
          <a:bodyPr/>
          <a:lstStyle/>
          <a:p>
            <a:endParaRPr lang="en-IE"/>
          </a:p>
        </p:txBody>
      </p:sp>
      <p:sp>
        <p:nvSpPr>
          <p:cNvPr id="3" name="Text 1"/>
          <p:cNvSpPr/>
          <p:nvPr/>
        </p:nvSpPr>
        <p:spPr>
          <a:xfrm>
            <a:off x="365760" y="73152"/>
            <a:ext cx="6400800" cy="43891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Which sectors had the best momentum each month</a:t>
            </a:r>
            <a:endParaRPr lang="en-US" sz="2200" dirty="0"/>
          </a:p>
        </p:txBody>
      </p:sp>
      <p:sp>
        <p:nvSpPr>
          <p:cNvPr id="4" name="Text 2"/>
          <p:cNvSpPr/>
          <p:nvPr/>
        </p:nvSpPr>
        <p:spPr>
          <a:xfrm>
            <a:off x="365760" y="512064"/>
            <a:ext cx="6400800" cy="320040"/>
          </a:xfrm>
          <a:prstGeom prst="rect">
            <a:avLst/>
          </a:prstGeom>
          <a:noFill/>
          <a:ln/>
        </p:spPr>
        <p:txBody>
          <a:bodyPr wrap="square" lIns="0" tIns="0" rIns="0" bIns="0" rtlCol="0" anchor="ctr"/>
          <a:lstStyle/>
          <a:p>
            <a:pPr marL="0" indent="0">
              <a:buNone/>
            </a:pPr>
            <a:r>
              <a:rPr lang="en-US" sz="1200" i="1" dirty="0">
                <a:solidFill>
                  <a:srgbClr val="4FC3F7"/>
                </a:solidFill>
                <a:latin typeface="Calibri" pitchFamily="34" charset="0"/>
                <a:ea typeface="Calibri" pitchFamily="34" charset="-122"/>
                <a:cs typeface="Calibri" pitchFamily="34" charset="-120"/>
              </a:rPr>
              <a:t>Momentum rank heatmap</a:t>
            </a:r>
            <a:endParaRPr lang="en-US" sz="1200" dirty="0"/>
          </a:p>
        </p:txBody>
      </p:sp>
      <p:pic>
        <p:nvPicPr>
          <p:cNvPr id="5" name="Image 0" descr="preencoded.png"/>
          <p:cNvPicPr>
            <a:picLocks noChangeAspect="1"/>
          </p:cNvPicPr>
          <p:nvPr/>
        </p:nvPicPr>
        <p:blipFill>
          <a:blip r:embed="rId3"/>
          <a:srcRect/>
          <a:stretch/>
        </p:blipFill>
        <p:spPr>
          <a:xfrm>
            <a:off x="274320" y="1005840"/>
            <a:ext cx="8595360" cy="3291840"/>
          </a:xfrm>
          <a:prstGeom prst="rect">
            <a:avLst/>
          </a:prstGeom>
        </p:spPr>
      </p:pic>
      <p:sp>
        <p:nvSpPr>
          <p:cNvPr id="6" name="Shape 3"/>
          <p:cNvSpPr/>
          <p:nvPr/>
        </p:nvSpPr>
        <p:spPr>
          <a:xfrm>
            <a:off x="0" y="4407408"/>
            <a:ext cx="9144000" cy="731520"/>
          </a:xfrm>
          <a:prstGeom prst="rect">
            <a:avLst/>
          </a:prstGeom>
          <a:solidFill>
            <a:srgbClr val="EEF3FB"/>
          </a:solidFill>
          <a:ln/>
        </p:spPr>
        <p:txBody>
          <a:bodyPr/>
          <a:lstStyle/>
          <a:p>
            <a:endParaRPr lang="en-IE"/>
          </a:p>
        </p:txBody>
      </p:sp>
      <p:sp>
        <p:nvSpPr>
          <p:cNvPr id="7" name="Text 4"/>
          <p:cNvSpPr/>
          <p:nvPr/>
        </p:nvSpPr>
        <p:spPr>
          <a:xfrm>
            <a:off x="365760" y="4453128"/>
            <a:ext cx="8412480" cy="640080"/>
          </a:xfrm>
          <a:prstGeom prst="rect">
            <a:avLst/>
          </a:prstGeom>
          <a:noFill/>
          <a:ln/>
        </p:spPr>
        <p:txBody>
          <a:bodyPr wrap="square" rtlCol="0" anchor="ctr"/>
          <a:lstStyle/>
          <a:p>
            <a:pPr marL="0" indent="0">
              <a:buNone/>
            </a:pPr>
            <a:r>
              <a:rPr lang="en-US" sz="1200" dirty="0">
                <a:solidFill>
                  <a:srgbClr val="0F1F3D"/>
                </a:solidFill>
                <a:latin typeface="Calibri" pitchFamily="34" charset="0"/>
                <a:ea typeface="Calibri" pitchFamily="34" charset="-122"/>
                <a:cs typeface="Calibri" pitchFamily="34" charset="-120"/>
              </a:rPr>
              <a:t>Tech (XLK) sits in green for long stretches while Energy sits in red for extended periods, confirming the momentum signal was consistently picking up on these long running trends.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F3D"/>
          </a:solidFill>
          <a:ln/>
        </p:spPr>
        <p:txBody>
          <a:bodyPr/>
          <a:lstStyle/>
          <a:p>
            <a:endParaRPr lang="en-IE"/>
          </a:p>
        </p:txBody>
      </p:sp>
      <p:sp>
        <p:nvSpPr>
          <p:cNvPr id="3" name="Text 1"/>
          <p:cNvSpPr/>
          <p:nvPr/>
        </p:nvSpPr>
        <p:spPr>
          <a:xfrm>
            <a:off x="365760" y="73152"/>
            <a:ext cx="6400800" cy="43891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How much money the strategy made over time</a:t>
            </a:r>
            <a:endParaRPr lang="en-US" sz="2200" dirty="0"/>
          </a:p>
        </p:txBody>
      </p:sp>
      <p:sp>
        <p:nvSpPr>
          <p:cNvPr id="4" name="Text 2"/>
          <p:cNvSpPr/>
          <p:nvPr/>
        </p:nvSpPr>
        <p:spPr>
          <a:xfrm>
            <a:off x="365760" y="512064"/>
            <a:ext cx="6400800" cy="320040"/>
          </a:xfrm>
          <a:prstGeom prst="rect">
            <a:avLst/>
          </a:prstGeom>
          <a:noFill/>
          <a:ln/>
        </p:spPr>
        <p:txBody>
          <a:bodyPr wrap="square" lIns="0" tIns="0" rIns="0" bIns="0" rtlCol="0" anchor="ctr"/>
          <a:lstStyle/>
          <a:p>
            <a:pPr marL="0" indent="0">
              <a:buNone/>
            </a:pPr>
            <a:r>
              <a:rPr lang="en-US" sz="1200" i="1" dirty="0">
                <a:solidFill>
                  <a:srgbClr val="4FC3F7"/>
                </a:solidFill>
                <a:latin typeface="Calibri" pitchFamily="34" charset="0"/>
                <a:ea typeface="Calibri" pitchFamily="34" charset="-122"/>
                <a:cs typeface="Calibri" pitchFamily="34" charset="-120"/>
              </a:rPr>
              <a:t>Cumulative Wealth Index</a:t>
            </a:r>
            <a:endParaRPr lang="en-US" sz="1200" dirty="0"/>
          </a:p>
        </p:txBody>
      </p:sp>
      <p:pic>
        <p:nvPicPr>
          <p:cNvPr id="5" name="Image 0" descr="preencoded.png"/>
          <p:cNvPicPr>
            <a:picLocks noChangeAspect="1"/>
          </p:cNvPicPr>
          <p:nvPr/>
        </p:nvPicPr>
        <p:blipFill>
          <a:blip r:embed="rId3"/>
          <a:srcRect/>
          <a:stretch/>
        </p:blipFill>
        <p:spPr>
          <a:xfrm>
            <a:off x="274320" y="1005840"/>
            <a:ext cx="8595360" cy="3291840"/>
          </a:xfrm>
          <a:prstGeom prst="rect">
            <a:avLst/>
          </a:prstGeom>
        </p:spPr>
      </p:pic>
      <p:sp>
        <p:nvSpPr>
          <p:cNvPr id="6" name="Shape 3"/>
          <p:cNvSpPr/>
          <p:nvPr/>
        </p:nvSpPr>
        <p:spPr>
          <a:xfrm>
            <a:off x="0" y="4407408"/>
            <a:ext cx="9144000" cy="731520"/>
          </a:xfrm>
          <a:prstGeom prst="rect">
            <a:avLst/>
          </a:prstGeom>
          <a:solidFill>
            <a:srgbClr val="EEF3FB"/>
          </a:solidFill>
          <a:ln/>
        </p:spPr>
        <p:txBody>
          <a:bodyPr/>
          <a:lstStyle/>
          <a:p>
            <a:endParaRPr lang="en-IE"/>
          </a:p>
        </p:txBody>
      </p:sp>
      <p:sp>
        <p:nvSpPr>
          <p:cNvPr id="7" name="Text 4"/>
          <p:cNvSpPr/>
          <p:nvPr/>
        </p:nvSpPr>
        <p:spPr>
          <a:xfrm>
            <a:off x="365760" y="4453128"/>
            <a:ext cx="8412480" cy="640080"/>
          </a:xfrm>
          <a:prstGeom prst="rect">
            <a:avLst/>
          </a:prstGeom>
          <a:noFill/>
          <a:ln/>
        </p:spPr>
        <p:txBody>
          <a:bodyPr wrap="square" rtlCol="0" anchor="ctr"/>
          <a:lstStyle/>
          <a:p>
            <a:pPr marL="0" indent="0">
              <a:buNone/>
            </a:pPr>
            <a:r>
              <a:rPr lang="en-US" sz="1200" dirty="0">
                <a:solidFill>
                  <a:srgbClr val="0F1F3D"/>
                </a:solidFill>
                <a:latin typeface="Calibri" pitchFamily="34" charset="0"/>
                <a:ea typeface="Calibri" pitchFamily="34" charset="-122"/>
                <a:cs typeface="Calibri" pitchFamily="34" charset="-120"/>
              </a:rPr>
              <a:t>$1,000 invested in 2005 grew to $6,354 by 2024 — a 535% return. The strategy and benchmark track each other closely showing the strategy matched the market.</a:t>
            </a:r>
            <a:endParaRPr lang="en-US" sz="1200" dirty="0"/>
          </a:p>
        </p:txBody>
      </p:sp>
      <p:pic>
        <p:nvPicPr>
          <p:cNvPr id="9" name="Graphic 8" descr="Angel face with solid fill with solid fill">
            <a:extLst>
              <a:ext uri="{FF2B5EF4-FFF2-40B4-BE49-F238E27FC236}">
                <a16:creationId xmlns:a16="http://schemas.microsoft.com/office/drawing/2014/main" id="{1B61BF6C-91F9-844D-2903-FBF8878D0D7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30084" y="1289304"/>
            <a:ext cx="509016" cy="509016"/>
          </a:xfrm>
          <a:prstGeom prst="rect">
            <a:avLst/>
          </a:prstGeom>
        </p:spPr>
      </p:pic>
      <p:pic>
        <p:nvPicPr>
          <p:cNvPr id="11" name="Graphic 10" descr="Angry face with solid fill with solid fill">
            <a:extLst>
              <a:ext uri="{FF2B5EF4-FFF2-40B4-BE49-F238E27FC236}">
                <a16:creationId xmlns:a16="http://schemas.microsoft.com/office/drawing/2014/main" id="{57E3D4CB-5615-1E7A-16F2-62105F7C030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39340" y="3322530"/>
            <a:ext cx="411060" cy="4110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F3D"/>
          </a:solidFill>
          <a:ln/>
        </p:spPr>
        <p:txBody>
          <a:bodyPr/>
          <a:lstStyle/>
          <a:p>
            <a:endParaRPr lang="en-IE"/>
          </a:p>
        </p:txBody>
      </p:sp>
      <p:sp>
        <p:nvSpPr>
          <p:cNvPr id="3" name="Text 1"/>
          <p:cNvSpPr/>
          <p:nvPr/>
        </p:nvSpPr>
        <p:spPr>
          <a:xfrm>
            <a:off x="365760" y="73152"/>
            <a:ext cx="6400800" cy="43891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How much the strategy lost during crashes</a:t>
            </a:r>
            <a:endParaRPr lang="en-US" sz="2200" dirty="0"/>
          </a:p>
        </p:txBody>
      </p:sp>
      <p:sp>
        <p:nvSpPr>
          <p:cNvPr id="4" name="Text 2"/>
          <p:cNvSpPr/>
          <p:nvPr/>
        </p:nvSpPr>
        <p:spPr>
          <a:xfrm>
            <a:off x="365760" y="512064"/>
            <a:ext cx="6400800" cy="320040"/>
          </a:xfrm>
          <a:prstGeom prst="rect">
            <a:avLst/>
          </a:prstGeom>
          <a:noFill/>
          <a:ln/>
        </p:spPr>
        <p:txBody>
          <a:bodyPr wrap="square" lIns="0" tIns="0" rIns="0" bIns="0" rtlCol="0" anchor="ctr"/>
          <a:lstStyle/>
          <a:p>
            <a:pPr marL="0" indent="0">
              <a:buNone/>
            </a:pPr>
            <a:r>
              <a:rPr lang="en-US" sz="1200" i="1" dirty="0">
                <a:solidFill>
                  <a:srgbClr val="4FC3F7"/>
                </a:solidFill>
                <a:latin typeface="Calibri" pitchFamily="34" charset="0"/>
                <a:ea typeface="Calibri" pitchFamily="34" charset="-122"/>
                <a:cs typeface="Calibri" pitchFamily="34" charset="-120"/>
              </a:rPr>
              <a:t>Monthly Drawdown</a:t>
            </a:r>
            <a:endParaRPr lang="en-US" sz="1200" dirty="0"/>
          </a:p>
        </p:txBody>
      </p:sp>
      <p:pic>
        <p:nvPicPr>
          <p:cNvPr id="5" name="Image 0" descr="preencoded.png"/>
          <p:cNvPicPr>
            <a:picLocks noChangeAspect="1"/>
          </p:cNvPicPr>
          <p:nvPr/>
        </p:nvPicPr>
        <p:blipFill>
          <a:blip r:embed="rId3"/>
          <a:srcRect/>
          <a:stretch/>
        </p:blipFill>
        <p:spPr>
          <a:xfrm>
            <a:off x="274320" y="1005840"/>
            <a:ext cx="8595360" cy="3291840"/>
          </a:xfrm>
          <a:prstGeom prst="rect">
            <a:avLst/>
          </a:prstGeom>
        </p:spPr>
      </p:pic>
      <p:sp>
        <p:nvSpPr>
          <p:cNvPr id="6" name="Shape 3"/>
          <p:cNvSpPr/>
          <p:nvPr/>
        </p:nvSpPr>
        <p:spPr>
          <a:xfrm>
            <a:off x="0" y="4407408"/>
            <a:ext cx="9144000" cy="731520"/>
          </a:xfrm>
          <a:prstGeom prst="rect">
            <a:avLst/>
          </a:prstGeom>
          <a:solidFill>
            <a:srgbClr val="EEF3FB"/>
          </a:solidFill>
          <a:ln/>
        </p:spPr>
        <p:txBody>
          <a:bodyPr/>
          <a:lstStyle/>
          <a:p>
            <a:endParaRPr lang="en-IE"/>
          </a:p>
        </p:txBody>
      </p:sp>
      <p:sp>
        <p:nvSpPr>
          <p:cNvPr id="7" name="Text 4"/>
          <p:cNvSpPr/>
          <p:nvPr/>
        </p:nvSpPr>
        <p:spPr>
          <a:xfrm>
            <a:off x="365760" y="4453128"/>
            <a:ext cx="8412480" cy="640080"/>
          </a:xfrm>
          <a:prstGeom prst="rect">
            <a:avLst/>
          </a:prstGeom>
          <a:noFill/>
          <a:ln/>
        </p:spPr>
        <p:txBody>
          <a:bodyPr wrap="square" rtlCol="0" anchor="ctr"/>
          <a:lstStyle/>
          <a:p>
            <a:pPr marL="0" indent="0">
              <a:buNone/>
            </a:pPr>
            <a:r>
              <a:rPr lang="en-US" sz="1200" dirty="0">
                <a:solidFill>
                  <a:srgbClr val="0F1F3D"/>
                </a:solidFill>
                <a:latin typeface="Calibri" pitchFamily="34" charset="0"/>
                <a:ea typeface="Calibri" pitchFamily="34" charset="-122"/>
                <a:cs typeface="Calibri" pitchFamily="34" charset="-120"/>
              </a:rPr>
              <a:t>During the 2008 financial crisis the strategy fell 43% while the benchmark fell 49.1%, and a smaller drawdown is visible in 2020 during COVID before markets recovered.</a:t>
            </a:r>
            <a:endParaRPr lang="en-US" sz="1200" dirty="0"/>
          </a:p>
        </p:txBody>
      </p:sp>
      <p:cxnSp>
        <p:nvCxnSpPr>
          <p:cNvPr id="14" name="Straight Arrow Connector 13">
            <a:extLst>
              <a:ext uri="{FF2B5EF4-FFF2-40B4-BE49-F238E27FC236}">
                <a16:creationId xmlns:a16="http://schemas.microsoft.com/office/drawing/2014/main" id="{2151DBC5-A9C4-2F2E-2A23-6ECECA0015F8}"/>
              </a:ext>
            </a:extLst>
          </p:cNvPr>
          <p:cNvCxnSpPr/>
          <p:nvPr/>
        </p:nvCxnSpPr>
        <p:spPr>
          <a:xfrm>
            <a:off x="2247900" y="2095500"/>
            <a:ext cx="175260" cy="145161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17" name="Straight Arrow Connector 16">
            <a:extLst>
              <a:ext uri="{FF2B5EF4-FFF2-40B4-BE49-F238E27FC236}">
                <a16:creationId xmlns:a16="http://schemas.microsoft.com/office/drawing/2014/main" id="{AC1912F7-3680-221D-B34A-DEEE46B90828}"/>
              </a:ext>
            </a:extLst>
          </p:cNvPr>
          <p:cNvCxnSpPr/>
          <p:nvPr/>
        </p:nvCxnSpPr>
        <p:spPr>
          <a:xfrm>
            <a:off x="6530340" y="1592580"/>
            <a:ext cx="0" cy="79248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F3D"/>
          </a:solidFill>
          <a:ln/>
        </p:spPr>
        <p:txBody>
          <a:bodyPr/>
          <a:lstStyle/>
          <a:p>
            <a:endParaRPr lang="en-IE"/>
          </a:p>
        </p:txBody>
      </p:sp>
      <p:sp>
        <p:nvSpPr>
          <p:cNvPr id="3" name="Text 1"/>
          <p:cNvSpPr/>
          <p:nvPr/>
        </p:nvSpPr>
        <p:spPr>
          <a:xfrm>
            <a:off x="365760" y="73152"/>
            <a:ext cx="6400800" cy="43891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Return per unit of risk over time </a:t>
            </a:r>
            <a:endParaRPr lang="en-US" sz="2200" dirty="0"/>
          </a:p>
        </p:txBody>
      </p:sp>
      <p:sp>
        <p:nvSpPr>
          <p:cNvPr id="4" name="Text 2"/>
          <p:cNvSpPr/>
          <p:nvPr/>
        </p:nvSpPr>
        <p:spPr>
          <a:xfrm>
            <a:off x="365760" y="512064"/>
            <a:ext cx="6400800" cy="320040"/>
          </a:xfrm>
          <a:prstGeom prst="rect">
            <a:avLst/>
          </a:prstGeom>
          <a:noFill/>
          <a:ln/>
        </p:spPr>
        <p:txBody>
          <a:bodyPr wrap="square" lIns="0" tIns="0" rIns="0" bIns="0" rtlCol="0" anchor="ctr"/>
          <a:lstStyle/>
          <a:p>
            <a:pPr marL="0" indent="0">
              <a:buNone/>
            </a:pPr>
            <a:r>
              <a:rPr lang="en-US" sz="1200" i="1" dirty="0">
                <a:solidFill>
                  <a:srgbClr val="4FC3F7"/>
                </a:solidFill>
                <a:latin typeface="Calibri" pitchFamily="34" charset="0"/>
                <a:ea typeface="Calibri" pitchFamily="34" charset="-122"/>
                <a:cs typeface="Calibri" pitchFamily="34" charset="-120"/>
              </a:rPr>
              <a:t>Rolling 12-Month Sharpe Ratio</a:t>
            </a:r>
            <a:endParaRPr lang="en-US" sz="1200" dirty="0"/>
          </a:p>
        </p:txBody>
      </p:sp>
      <p:pic>
        <p:nvPicPr>
          <p:cNvPr id="5" name="Image 0" descr="preencoded.png"/>
          <p:cNvPicPr>
            <a:picLocks noChangeAspect="1"/>
          </p:cNvPicPr>
          <p:nvPr/>
        </p:nvPicPr>
        <p:blipFill>
          <a:blip r:embed="rId3"/>
          <a:srcRect/>
          <a:stretch/>
        </p:blipFill>
        <p:spPr>
          <a:xfrm>
            <a:off x="274320" y="1005840"/>
            <a:ext cx="8595360" cy="3291840"/>
          </a:xfrm>
          <a:prstGeom prst="rect">
            <a:avLst/>
          </a:prstGeom>
        </p:spPr>
      </p:pic>
      <p:sp>
        <p:nvSpPr>
          <p:cNvPr id="6" name="Shape 3"/>
          <p:cNvSpPr/>
          <p:nvPr/>
        </p:nvSpPr>
        <p:spPr>
          <a:xfrm>
            <a:off x="0" y="4407408"/>
            <a:ext cx="9144000" cy="731520"/>
          </a:xfrm>
          <a:prstGeom prst="rect">
            <a:avLst/>
          </a:prstGeom>
          <a:solidFill>
            <a:srgbClr val="EEF3FB"/>
          </a:solidFill>
          <a:ln/>
        </p:spPr>
        <p:txBody>
          <a:bodyPr/>
          <a:lstStyle/>
          <a:p>
            <a:endParaRPr lang="en-IE"/>
          </a:p>
        </p:txBody>
      </p:sp>
      <p:sp>
        <p:nvSpPr>
          <p:cNvPr id="7" name="Text 4"/>
          <p:cNvSpPr/>
          <p:nvPr/>
        </p:nvSpPr>
        <p:spPr>
          <a:xfrm>
            <a:off x="365760" y="4453128"/>
            <a:ext cx="8412480" cy="640080"/>
          </a:xfrm>
          <a:prstGeom prst="rect">
            <a:avLst/>
          </a:prstGeom>
          <a:noFill/>
          <a:ln/>
        </p:spPr>
        <p:txBody>
          <a:bodyPr wrap="square" rtlCol="0" anchor="ctr"/>
          <a:lstStyle/>
          <a:p>
            <a:pPr marL="0" indent="0">
              <a:buNone/>
            </a:pPr>
            <a:r>
              <a:rPr lang="en-US" sz="1200" dirty="0">
                <a:solidFill>
                  <a:srgbClr val="0F1F3D"/>
                </a:solidFill>
                <a:latin typeface="Calibri" pitchFamily="34" charset="0"/>
                <a:ea typeface="Calibri" pitchFamily="34" charset="-122"/>
                <a:cs typeface="Calibri" pitchFamily="34" charset="-120"/>
              </a:rPr>
              <a:t>Both lines go negative around 2008 and again in 2022 when the Federal Reserve raised interest rates. Outside of those periods both lines track each other closely.</a:t>
            </a:r>
            <a:endParaRPr lang="en-US" sz="1200" dirty="0"/>
          </a:p>
        </p:txBody>
      </p:sp>
      <p:cxnSp>
        <p:nvCxnSpPr>
          <p:cNvPr id="33" name="Straight Arrow Connector 32">
            <a:extLst>
              <a:ext uri="{FF2B5EF4-FFF2-40B4-BE49-F238E27FC236}">
                <a16:creationId xmlns:a16="http://schemas.microsoft.com/office/drawing/2014/main" id="{1B4D3B91-400A-3FC2-57C9-3D9D032680F4}"/>
              </a:ext>
            </a:extLst>
          </p:cNvPr>
          <p:cNvCxnSpPr/>
          <p:nvPr/>
        </p:nvCxnSpPr>
        <p:spPr>
          <a:xfrm>
            <a:off x="1684020" y="1501140"/>
            <a:ext cx="594360" cy="179832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5" name="Straight Arrow Connector 34">
            <a:extLst>
              <a:ext uri="{FF2B5EF4-FFF2-40B4-BE49-F238E27FC236}">
                <a16:creationId xmlns:a16="http://schemas.microsoft.com/office/drawing/2014/main" id="{1CB7AB56-4C5E-0ED3-85C1-1DFBF2E34192}"/>
              </a:ext>
            </a:extLst>
          </p:cNvPr>
          <p:cNvCxnSpPr/>
          <p:nvPr/>
        </p:nvCxnSpPr>
        <p:spPr>
          <a:xfrm>
            <a:off x="7277100" y="1767840"/>
            <a:ext cx="464820" cy="88392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8" name="Oval 37">
            <a:extLst>
              <a:ext uri="{FF2B5EF4-FFF2-40B4-BE49-F238E27FC236}">
                <a16:creationId xmlns:a16="http://schemas.microsoft.com/office/drawing/2014/main" id="{A1E2E94D-5594-FCB3-1949-F8B9888A29B7}"/>
              </a:ext>
            </a:extLst>
          </p:cNvPr>
          <p:cNvSpPr/>
          <p:nvPr/>
        </p:nvSpPr>
        <p:spPr>
          <a:xfrm>
            <a:off x="1508760" y="1351026"/>
            <a:ext cx="175260" cy="190500"/>
          </a:xfrm>
          <a:prstGeom prst="ellipse">
            <a:avLst/>
          </a:prstGeom>
          <a:noFill/>
          <a:ln>
            <a:solidFill>
              <a:srgbClr val="FF0000"/>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E">
              <a:noFill/>
            </a:endParaRPr>
          </a:p>
        </p:txBody>
      </p:sp>
      <p:sp>
        <p:nvSpPr>
          <p:cNvPr id="39" name="Oval 38">
            <a:extLst>
              <a:ext uri="{FF2B5EF4-FFF2-40B4-BE49-F238E27FC236}">
                <a16:creationId xmlns:a16="http://schemas.microsoft.com/office/drawing/2014/main" id="{0553A74D-2A39-BAFB-027F-C3B9A749AB3F}"/>
              </a:ext>
            </a:extLst>
          </p:cNvPr>
          <p:cNvSpPr/>
          <p:nvPr/>
        </p:nvSpPr>
        <p:spPr>
          <a:xfrm>
            <a:off x="7101840" y="1642110"/>
            <a:ext cx="175260" cy="190500"/>
          </a:xfrm>
          <a:prstGeom prst="ellipse">
            <a:avLst/>
          </a:prstGeom>
          <a:noFill/>
          <a:ln>
            <a:solidFill>
              <a:srgbClr val="FF0000"/>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E">
              <a:noFill/>
            </a:endParaRPr>
          </a:p>
        </p:txBody>
      </p:sp>
      <p:pic>
        <p:nvPicPr>
          <p:cNvPr id="41" name="Graphic 40" descr="Angry face with solid fill with solid fill">
            <a:extLst>
              <a:ext uri="{FF2B5EF4-FFF2-40B4-BE49-F238E27FC236}">
                <a16:creationId xmlns:a16="http://schemas.microsoft.com/office/drawing/2014/main" id="{1BC6B904-22AC-67D7-72F4-F0C2FA9E0E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62200" y="3421380"/>
            <a:ext cx="440436" cy="440436"/>
          </a:xfrm>
          <a:prstGeom prst="rect">
            <a:avLst/>
          </a:prstGeom>
        </p:spPr>
      </p:pic>
      <p:pic>
        <p:nvPicPr>
          <p:cNvPr id="42" name="Graphic 41" descr="Angry face with solid fill with solid fill">
            <a:extLst>
              <a:ext uri="{FF2B5EF4-FFF2-40B4-BE49-F238E27FC236}">
                <a16:creationId xmlns:a16="http://schemas.microsoft.com/office/drawing/2014/main" id="{08FBF967-E3F0-65D1-88EF-37CF4A37C45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78140" y="2859024"/>
            <a:ext cx="440436" cy="44043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bg>
      <p:bgPr>
        <a:solidFill>
          <a:srgbClr val="0F1F3D"/>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9436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Backtest Results</a:t>
            </a:r>
            <a:endParaRPr lang="en-US" sz="3000" dirty="0"/>
          </a:p>
        </p:txBody>
      </p:sp>
      <p:sp>
        <p:nvSpPr>
          <p:cNvPr id="3" name="Text 1"/>
          <p:cNvSpPr/>
          <p:nvPr/>
        </p:nvSpPr>
        <p:spPr>
          <a:xfrm>
            <a:off x="365760" y="1046988"/>
            <a:ext cx="1920240" cy="210312"/>
          </a:xfrm>
          <a:prstGeom prst="rect">
            <a:avLst/>
          </a:prstGeom>
          <a:noFill/>
          <a:ln/>
        </p:spPr>
        <p:txBody>
          <a:bodyPr wrap="square" rtlCol="0" anchor="ctr"/>
          <a:lstStyle/>
          <a:p>
            <a:pPr marL="0" indent="0">
              <a:buNone/>
            </a:pPr>
            <a:r>
              <a:rPr lang="en-US" sz="1300" dirty="0">
                <a:solidFill>
                  <a:schemeClr val="bg1"/>
                </a:solidFill>
              </a:rPr>
              <a:t>From 2005 - 2024</a:t>
            </a:r>
          </a:p>
        </p:txBody>
      </p:sp>
      <p:sp>
        <p:nvSpPr>
          <p:cNvPr id="4" name="Shape 2"/>
          <p:cNvSpPr/>
          <p:nvPr/>
        </p:nvSpPr>
        <p:spPr>
          <a:xfrm>
            <a:off x="274320" y="1280160"/>
            <a:ext cx="2011680" cy="1371600"/>
          </a:xfrm>
          <a:prstGeom prst="rect">
            <a:avLst/>
          </a:prstGeom>
          <a:solidFill>
            <a:srgbClr val="FFFFFF">
              <a:alpha val="12000"/>
            </a:srgbClr>
          </a:solidFill>
          <a:ln/>
          <a:effectLst>
            <a:outerShdw blurRad="76200" dist="25400" dir="8100000" algn="bl" rotWithShape="0">
              <a:srgbClr val="000000">
                <a:alpha val="10000"/>
              </a:srgbClr>
            </a:outerShdw>
          </a:effectLst>
        </p:spPr>
        <p:txBody>
          <a:bodyPr/>
          <a:lstStyle/>
          <a:p>
            <a:endParaRPr lang="en-IE"/>
          </a:p>
        </p:txBody>
      </p:sp>
      <p:sp>
        <p:nvSpPr>
          <p:cNvPr id="5" name="Text 3"/>
          <p:cNvSpPr/>
          <p:nvPr/>
        </p:nvSpPr>
        <p:spPr>
          <a:xfrm>
            <a:off x="274320" y="1353312"/>
            <a:ext cx="2011680" cy="731520"/>
          </a:xfrm>
          <a:prstGeom prst="rect">
            <a:avLst/>
          </a:prstGeom>
          <a:noFill/>
          <a:ln/>
        </p:spPr>
        <p:txBody>
          <a:bodyPr wrap="square" rtlCol="0" anchor="ctr"/>
          <a:lstStyle/>
          <a:p>
            <a:pPr marL="0" indent="0" algn="ctr">
              <a:buNone/>
            </a:pPr>
            <a:r>
              <a:rPr lang="en-US" sz="3000" b="1" dirty="0">
                <a:solidFill>
                  <a:srgbClr val="22C55E"/>
                </a:solidFill>
                <a:latin typeface="Calibri" pitchFamily="34" charset="0"/>
                <a:ea typeface="Calibri" pitchFamily="34" charset="-122"/>
                <a:cs typeface="Calibri" pitchFamily="34" charset="-120"/>
              </a:rPr>
              <a:t>€6,354</a:t>
            </a:r>
            <a:endParaRPr lang="en-US" sz="3000" dirty="0"/>
          </a:p>
        </p:txBody>
      </p:sp>
      <p:sp>
        <p:nvSpPr>
          <p:cNvPr id="6" name="Text 4"/>
          <p:cNvSpPr/>
          <p:nvPr/>
        </p:nvSpPr>
        <p:spPr>
          <a:xfrm>
            <a:off x="274320" y="2057400"/>
            <a:ext cx="2011680" cy="502920"/>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€1,000 grew to</a:t>
            </a:r>
            <a:endParaRPr lang="en-US" sz="1050" dirty="0"/>
          </a:p>
        </p:txBody>
      </p:sp>
      <p:sp>
        <p:nvSpPr>
          <p:cNvPr id="7" name="Shape 5"/>
          <p:cNvSpPr/>
          <p:nvPr/>
        </p:nvSpPr>
        <p:spPr>
          <a:xfrm>
            <a:off x="2441448" y="1280160"/>
            <a:ext cx="2011680" cy="1371600"/>
          </a:xfrm>
          <a:prstGeom prst="rect">
            <a:avLst/>
          </a:prstGeom>
          <a:solidFill>
            <a:srgbClr val="FFFFFF">
              <a:alpha val="12000"/>
            </a:srgbClr>
          </a:solidFill>
          <a:ln/>
          <a:effectLst>
            <a:outerShdw blurRad="76200" dist="25400" dir="8100000" algn="bl" rotWithShape="0">
              <a:srgbClr val="000000">
                <a:alpha val="10000"/>
              </a:srgbClr>
            </a:outerShdw>
          </a:effectLst>
        </p:spPr>
        <p:txBody>
          <a:bodyPr/>
          <a:lstStyle/>
          <a:p>
            <a:endParaRPr lang="en-IE"/>
          </a:p>
        </p:txBody>
      </p:sp>
      <p:sp>
        <p:nvSpPr>
          <p:cNvPr id="8" name="Text 6"/>
          <p:cNvSpPr/>
          <p:nvPr/>
        </p:nvSpPr>
        <p:spPr>
          <a:xfrm>
            <a:off x="2441448" y="1353312"/>
            <a:ext cx="2011680" cy="731520"/>
          </a:xfrm>
          <a:prstGeom prst="rect">
            <a:avLst/>
          </a:prstGeom>
          <a:noFill/>
          <a:ln/>
        </p:spPr>
        <p:txBody>
          <a:bodyPr wrap="square" rtlCol="0" anchor="ctr"/>
          <a:lstStyle/>
          <a:p>
            <a:pPr marL="0" indent="0" algn="ctr">
              <a:buNone/>
            </a:pPr>
            <a:r>
              <a:rPr lang="en-US" sz="3000" b="1" dirty="0">
                <a:solidFill>
                  <a:srgbClr val="4FC3F7"/>
                </a:solidFill>
                <a:latin typeface="Calibri" pitchFamily="34" charset="0"/>
                <a:ea typeface="Calibri" pitchFamily="34" charset="-122"/>
                <a:cs typeface="Calibri" pitchFamily="34" charset="-120"/>
              </a:rPr>
              <a:t>535%</a:t>
            </a:r>
            <a:endParaRPr lang="en-US" sz="3000" dirty="0"/>
          </a:p>
        </p:txBody>
      </p:sp>
      <p:sp>
        <p:nvSpPr>
          <p:cNvPr id="9" name="Text 7"/>
          <p:cNvSpPr/>
          <p:nvPr/>
        </p:nvSpPr>
        <p:spPr>
          <a:xfrm>
            <a:off x="2441448" y="2057400"/>
            <a:ext cx="2011680" cy="502920"/>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Total Return</a:t>
            </a:r>
            <a:endParaRPr lang="en-US" sz="1050" dirty="0"/>
          </a:p>
        </p:txBody>
      </p:sp>
      <p:sp>
        <p:nvSpPr>
          <p:cNvPr id="10" name="Shape 8"/>
          <p:cNvSpPr/>
          <p:nvPr/>
        </p:nvSpPr>
        <p:spPr>
          <a:xfrm>
            <a:off x="4608576" y="1280160"/>
            <a:ext cx="2011680" cy="1371600"/>
          </a:xfrm>
          <a:prstGeom prst="rect">
            <a:avLst/>
          </a:prstGeom>
          <a:solidFill>
            <a:srgbClr val="FFFFFF">
              <a:alpha val="12000"/>
            </a:srgbClr>
          </a:solidFill>
          <a:ln/>
          <a:effectLst>
            <a:outerShdw blurRad="76200" dist="25400" dir="8100000" algn="bl" rotWithShape="0">
              <a:srgbClr val="000000">
                <a:alpha val="10000"/>
              </a:srgbClr>
            </a:outerShdw>
          </a:effectLst>
        </p:spPr>
        <p:txBody>
          <a:bodyPr/>
          <a:lstStyle/>
          <a:p>
            <a:endParaRPr lang="en-IE"/>
          </a:p>
        </p:txBody>
      </p:sp>
      <p:sp>
        <p:nvSpPr>
          <p:cNvPr id="11" name="Text 9"/>
          <p:cNvSpPr/>
          <p:nvPr/>
        </p:nvSpPr>
        <p:spPr>
          <a:xfrm>
            <a:off x="4608576" y="1353312"/>
            <a:ext cx="2011680" cy="731520"/>
          </a:xfrm>
          <a:prstGeom prst="rect">
            <a:avLst/>
          </a:prstGeom>
          <a:noFill/>
          <a:ln/>
        </p:spPr>
        <p:txBody>
          <a:bodyPr wrap="square" rtlCol="0" anchor="ctr"/>
          <a:lstStyle/>
          <a:p>
            <a:pPr marL="0" indent="0" algn="ctr">
              <a:buNone/>
            </a:pPr>
            <a:r>
              <a:rPr lang="en-US" sz="3000" b="1" dirty="0">
                <a:solidFill>
                  <a:srgbClr val="F59E0B"/>
                </a:solidFill>
                <a:latin typeface="Calibri" pitchFamily="34" charset="0"/>
                <a:ea typeface="Calibri" pitchFamily="34" charset="-122"/>
                <a:cs typeface="Calibri" pitchFamily="34" charset="-120"/>
              </a:rPr>
              <a:t>-43%</a:t>
            </a:r>
            <a:endParaRPr lang="en-US" sz="3000" dirty="0"/>
          </a:p>
        </p:txBody>
      </p:sp>
      <p:sp>
        <p:nvSpPr>
          <p:cNvPr id="12" name="Text 10"/>
          <p:cNvSpPr/>
          <p:nvPr/>
        </p:nvSpPr>
        <p:spPr>
          <a:xfrm>
            <a:off x="4608576" y="2057400"/>
            <a:ext cx="2011680" cy="502920"/>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Strategy Max Drawdown</a:t>
            </a:r>
            <a:endParaRPr lang="en-US" sz="1050" dirty="0"/>
          </a:p>
        </p:txBody>
      </p:sp>
      <p:sp>
        <p:nvSpPr>
          <p:cNvPr id="13" name="Shape 11"/>
          <p:cNvSpPr/>
          <p:nvPr/>
        </p:nvSpPr>
        <p:spPr>
          <a:xfrm>
            <a:off x="6775704" y="1280160"/>
            <a:ext cx="2011680" cy="1371600"/>
          </a:xfrm>
          <a:prstGeom prst="rect">
            <a:avLst/>
          </a:prstGeom>
          <a:solidFill>
            <a:srgbClr val="FFFFFF">
              <a:alpha val="12000"/>
            </a:srgbClr>
          </a:solidFill>
          <a:ln/>
          <a:effectLst>
            <a:outerShdw blurRad="76200" dist="25400" dir="8100000" algn="bl" rotWithShape="0">
              <a:srgbClr val="000000">
                <a:alpha val="10000"/>
              </a:srgbClr>
            </a:outerShdw>
          </a:effectLst>
        </p:spPr>
        <p:txBody>
          <a:bodyPr/>
          <a:lstStyle/>
          <a:p>
            <a:endParaRPr lang="en-IE"/>
          </a:p>
        </p:txBody>
      </p:sp>
      <p:sp>
        <p:nvSpPr>
          <p:cNvPr id="14" name="Text 12"/>
          <p:cNvSpPr/>
          <p:nvPr/>
        </p:nvSpPr>
        <p:spPr>
          <a:xfrm>
            <a:off x="6775704" y="1353312"/>
            <a:ext cx="2011680" cy="731520"/>
          </a:xfrm>
          <a:prstGeom prst="rect">
            <a:avLst/>
          </a:prstGeom>
          <a:noFill/>
          <a:ln/>
        </p:spPr>
        <p:txBody>
          <a:bodyPr wrap="square" rtlCol="0" anchor="ctr"/>
          <a:lstStyle/>
          <a:p>
            <a:pPr marL="0" indent="0" algn="ctr">
              <a:buNone/>
            </a:pPr>
            <a:r>
              <a:rPr lang="en-US" sz="3000" b="1" dirty="0">
                <a:solidFill>
                  <a:srgbClr val="22C55E"/>
                </a:solidFill>
                <a:latin typeface="Calibri" pitchFamily="34" charset="0"/>
                <a:ea typeface="Calibri" pitchFamily="34" charset="-122"/>
                <a:cs typeface="Calibri" pitchFamily="34" charset="-120"/>
              </a:rPr>
              <a:t>62%</a:t>
            </a:r>
            <a:endParaRPr lang="en-US" sz="3000" dirty="0"/>
          </a:p>
        </p:txBody>
      </p:sp>
      <p:sp>
        <p:nvSpPr>
          <p:cNvPr id="15" name="Text 13"/>
          <p:cNvSpPr/>
          <p:nvPr/>
        </p:nvSpPr>
        <p:spPr>
          <a:xfrm>
            <a:off x="6775704" y="2057400"/>
            <a:ext cx="2011680" cy="502920"/>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Months Profitable</a:t>
            </a:r>
            <a:endParaRPr lang="en-US" sz="1050" dirty="0"/>
          </a:p>
        </p:txBody>
      </p:sp>
      <p:sp>
        <p:nvSpPr>
          <p:cNvPr id="16" name="Shape 14"/>
          <p:cNvSpPr/>
          <p:nvPr/>
        </p:nvSpPr>
        <p:spPr>
          <a:xfrm>
            <a:off x="274320" y="2834640"/>
            <a:ext cx="8595360" cy="384048"/>
          </a:xfrm>
          <a:prstGeom prst="rect">
            <a:avLst/>
          </a:prstGeom>
          <a:solidFill>
            <a:srgbClr val="4FC3F7"/>
          </a:solidFill>
          <a:ln/>
        </p:spPr>
        <p:txBody>
          <a:bodyPr/>
          <a:lstStyle/>
          <a:p>
            <a:endParaRPr lang="en-IE"/>
          </a:p>
        </p:txBody>
      </p:sp>
      <p:sp>
        <p:nvSpPr>
          <p:cNvPr id="17" name="Text 15"/>
          <p:cNvSpPr/>
          <p:nvPr/>
        </p:nvSpPr>
        <p:spPr>
          <a:xfrm>
            <a:off x="457200" y="2871216"/>
            <a:ext cx="2743200" cy="310896"/>
          </a:xfrm>
          <a:prstGeom prst="rect">
            <a:avLst/>
          </a:prstGeom>
          <a:noFill/>
          <a:ln/>
        </p:spPr>
        <p:txBody>
          <a:bodyPr wrap="square" lIns="0" tIns="0" rIns="0" bIns="0" rtlCol="0" anchor="ctr"/>
          <a:lstStyle/>
          <a:p>
            <a:pPr marL="0" indent="0">
              <a:buNone/>
            </a:pPr>
            <a:r>
              <a:rPr lang="en-US" sz="1200" b="1" dirty="0">
                <a:solidFill>
                  <a:srgbClr val="0F1F3D"/>
                </a:solidFill>
                <a:latin typeface="Calibri" pitchFamily="34" charset="0"/>
                <a:ea typeface="Calibri" pitchFamily="34" charset="-122"/>
                <a:cs typeface="Calibri" pitchFamily="34" charset="-120"/>
              </a:rPr>
              <a:t>Metric</a:t>
            </a:r>
            <a:endParaRPr lang="en-US" sz="1200" dirty="0"/>
          </a:p>
        </p:txBody>
      </p:sp>
      <p:sp>
        <p:nvSpPr>
          <p:cNvPr id="18" name="Text 16"/>
          <p:cNvSpPr/>
          <p:nvPr/>
        </p:nvSpPr>
        <p:spPr>
          <a:xfrm>
            <a:off x="3200400" y="2871216"/>
            <a:ext cx="1828800" cy="310896"/>
          </a:xfrm>
          <a:prstGeom prst="rect">
            <a:avLst/>
          </a:prstGeom>
          <a:noFill/>
          <a:ln/>
        </p:spPr>
        <p:txBody>
          <a:bodyPr wrap="square" lIns="0" tIns="0" rIns="0" bIns="0" rtlCol="0" anchor="ctr"/>
          <a:lstStyle/>
          <a:p>
            <a:pPr marL="0" indent="0" algn="ctr">
              <a:buNone/>
            </a:pPr>
            <a:r>
              <a:rPr lang="en-US" sz="1200" b="1" dirty="0">
                <a:solidFill>
                  <a:srgbClr val="0F1F3D"/>
                </a:solidFill>
                <a:latin typeface="Calibri" pitchFamily="34" charset="0"/>
                <a:ea typeface="Calibri" pitchFamily="34" charset="-122"/>
                <a:cs typeface="Calibri" pitchFamily="34" charset="-120"/>
              </a:rPr>
              <a:t>Strategy</a:t>
            </a:r>
            <a:endParaRPr lang="en-US" sz="1200" dirty="0"/>
          </a:p>
        </p:txBody>
      </p:sp>
      <p:sp>
        <p:nvSpPr>
          <p:cNvPr id="19" name="Text 17"/>
          <p:cNvSpPr/>
          <p:nvPr/>
        </p:nvSpPr>
        <p:spPr>
          <a:xfrm>
            <a:off x="5029200" y="2871216"/>
            <a:ext cx="1828800" cy="310896"/>
          </a:xfrm>
          <a:prstGeom prst="rect">
            <a:avLst/>
          </a:prstGeom>
          <a:noFill/>
          <a:ln/>
        </p:spPr>
        <p:txBody>
          <a:bodyPr wrap="square" lIns="0" tIns="0" rIns="0" bIns="0" rtlCol="0" anchor="ctr"/>
          <a:lstStyle/>
          <a:p>
            <a:pPr marL="0" indent="0" algn="ctr">
              <a:buNone/>
            </a:pPr>
            <a:r>
              <a:rPr lang="en-US" sz="1200" b="1" dirty="0">
                <a:solidFill>
                  <a:srgbClr val="0F1F3D"/>
                </a:solidFill>
                <a:latin typeface="Calibri" pitchFamily="34" charset="0"/>
                <a:ea typeface="Calibri" pitchFamily="34" charset="-122"/>
                <a:cs typeface="Calibri" pitchFamily="34" charset="-120"/>
              </a:rPr>
              <a:t>Benchmark</a:t>
            </a:r>
            <a:endParaRPr lang="en-US" sz="1200" dirty="0"/>
          </a:p>
        </p:txBody>
      </p:sp>
      <p:sp>
        <p:nvSpPr>
          <p:cNvPr id="20" name="Text 18"/>
          <p:cNvSpPr/>
          <p:nvPr/>
        </p:nvSpPr>
        <p:spPr>
          <a:xfrm>
            <a:off x="6858000" y="2871216"/>
            <a:ext cx="1828800" cy="310896"/>
          </a:xfrm>
          <a:prstGeom prst="rect">
            <a:avLst/>
          </a:prstGeom>
          <a:noFill/>
          <a:ln/>
        </p:spPr>
        <p:txBody>
          <a:bodyPr wrap="square" lIns="0" tIns="0" rIns="0" bIns="0" rtlCol="0" anchor="ctr"/>
          <a:lstStyle/>
          <a:p>
            <a:pPr marL="0" indent="0" algn="ctr">
              <a:buNone/>
            </a:pPr>
            <a:r>
              <a:rPr lang="en-US" sz="1200" b="1" dirty="0">
                <a:solidFill>
                  <a:srgbClr val="0F1F3D"/>
                </a:solidFill>
                <a:latin typeface="Calibri" pitchFamily="34" charset="0"/>
                <a:ea typeface="Calibri" pitchFamily="34" charset="-122"/>
                <a:cs typeface="Calibri" pitchFamily="34" charset="-120"/>
              </a:rPr>
              <a:t>Verdict</a:t>
            </a:r>
            <a:endParaRPr lang="en-US" sz="1200" dirty="0"/>
          </a:p>
        </p:txBody>
      </p:sp>
      <p:sp>
        <p:nvSpPr>
          <p:cNvPr id="21" name="Shape 19"/>
          <p:cNvSpPr/>
          <p:nvPr/>
        </p:nvSpPr>
        <p:spPr>
          <a:xfrm>
            <a:off x="274320" y="3246120"/>
            <a:ext cx="8595360" cy="411480"/>
          </a:xfrm>
          <a:prstGeom prst="rect">
            <a:avLst/>
          </a:prstGeom>
          <a:solidFill>
            <a:srgbClr val="FFFFFF">
              <a:alpha val="12000"/>
            </a:srgbClr>
          </a:solidFill>
          <a:ln/>
        </p:spPr>
        <p:txBody>
          <a:bodyPr/>
          <a:lstStyle/>
          <a:p>
            <a:endParaRPr lang="en-IE"/>
          </a:p>
        </p:txBody>
      </p:sp>
      <p:sp>
        <p:nvSpPr>
          <p:cNvPr id="22" name="Text 20"/>
          <p:cNvSpPr/>
          <p:nvPr/>
        </p:nvSpPr>
        <p:spPr>
          <a:xfrm>
            <a:off x="457200" y="3291840"/>
            <a:ext cx="2743200" cy="3200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Annual Return</a:t>
            </a:r>
            <a:endParaRPr lang="en-US" sz="1200" dirty="0"/>
          </a:p>
        </p:txBody>
      </p:sp>
      <p:sp>
        <p:nvSpPr>
          <p:cNvPr id="23" name="Text 21"/>
          <p:cNvSpPr/>
          <p:nvPr/>
        </p:nvSpPr>
        <p:spPr>
          <a:xfrm>
            <a:off x="3200400" y="3291840"/>
            <a:ext cx="1828800" cy="320040"/>
          </a:xfrm>
          <a:prstGeom prst="rect">
            <a:avLst/>
          </a:prstGeom>
          <a:noFill/>
          <a:ln/>
        </p:spPr>
        <p:txBody>
          <a:bodyPr wrap="square" lIns="0" tIns="0" rIns="0" bIns="0" rtlCol="0" anchor="ctr"/>
          <a:lstStyle/>
          <a:p>
            <a:pPr marL="0" indent="0" algn="ctr">
              <a:buNone/>
            </a:pPr>
            <a:r>
              <a:rPr lang="en-US" sz="1200" b="1" dirty="0">
                <a:solidFill>
                  <a:srgbClr val="4FC3F7"/>
                </a:solidFill>
                <a:latin typeface="Calibri" pitchFamily="34" charset="0"/>
                <a:ea typeface="Calibri" pitchFamily="34" charset="-122"/>
                <a:cs typeface="Calibri" pitchFamily="34" charset="-120"/>
              </a:rPr>
              <a:t>10.4%</a:t>
            </a:r>
            <a:endParaRPr lang="en-US" sz="1200" dirty="0"/>
          </a:p>
        </p:txBody>
      </p:sp>
      <p:sp>
        <p:nvSpPr>
          <p:cNvPr id="24" name="Text 22"/>
          <p:cNvSpPr/>
          <p:nvPr/>
        </p:nvSpPr>
        <p:spPr>
          <a:xfrm>
            <a:off x="5029200" y="3291840"/>
            <a:ext cx="1828800" cy="3200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10.5%</a:t>
            </a:r>
            <a:endParaRPr lang="en-US" sz="1200" dirty="0"/>
          </a:p>
        </p:txBody>
      </p:sp>
      <p:sp>
        <p:nvSpPr>
          <p:cNvPr id="25" name="Text 23"/>
          <p:cNvSpPr/>
          <p:nvPr/>
        </p:nvSpPr>
        <p:spPr>
          <a:xfrm>
            <a:off x="6858000" y="3291840"/>
            <a:ext cx="1828800" cy="320040"/>
          </a:xfrm>
          <a:prstGeom prst="rect">
            <a:avLst/>
          </a:prstGeom>
          <a:noFill/>
          <a:ln/>
        </p:spPr>
        <p:txBody>
          <a:bodyPr wrap="square" lIns="0" tIns="0" rIns="0" bIns="0" rtlCol="0" anchor="ctr"/>
          <a:lstStyle/>
          <a:p>
            <a:pPr marL="0" indent="0" algn="ctr">
              <a:buNone/>
            </a:pPr>
            <a:r>
              <a:rPr lang="en-US" sz="1100" dirty="0">
                <a:solidFill>
                  <a:srgbClr val="4FC3F7"/>
                </a:solidFill>
                <a:latin typeface="Calibri" pitchFamily="34" charset="0"/>
                <a:ea typeface="Calibri" pitchFamily="34" charset="-122"/>
                <a:cs typeface="Calibri" pitchFamily="34" charset="-120"/>
              </a:rPr>
              <a:t>Matched the market</a:t>
            </a:r>
            <a:endParaRPr lang="en-US" sz="1100" dirty="0"/>
          </a:p>
        </p:txBody>
      </p:sp>
      <p:sp>
        <p:nvSpPr>
          <p:cNvPr id="26" name="Shape 24"/>
          <p:cNvSpPr/>
          <p:nvPr/>
        </p:nvSpPr>
        <p:spPr>
          <a:xfrm>
            <a:off x="274320" y="3685032"/>
            <a:ext cx="8595360" cy="411480"/>
          </a:xfrm>
          <a:prstGeom prst="rect">
            <a:avLst/>
          </a:prstGeom>
          <a:solidFill>
            <a:srgbClr val="1E3A5F"/>
          </a:solidFill>
          <a:ln/>
        </p:spPr>
        <p:txBody>
          <a:bodyPr/>
          <a:lstStyle/>
          <a:p>
            <a:endParaRPr lang="en-IE"/>
          </a:p>
        </p:txBody>
      </p:sp>
      <p:sp>
        <p:nvSpPr>
          <p:cNvPr id="27" name="Text 25"/>
          <p:cNvSpPr/>
          <p:nvPr/>
        </p:nvSpPr>
        <p:spPr>
          <a:xfrm>
            <a:off x="457200" y="3730752"/>
            <a:ext cx="2743200" cy="3200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Max Drawdown</a:t>
            </a:r>
            <a:endParaRPr lang="en-US" sz="1200" dirty="0"/>
          </a:p>
        </p:txBody>
      </p:sp>
      <p:sp>
        <p:nvSpPr>
          <p:cNvPr id="28" name="Text 26"/>
          <p:cNvSpPr/>
          <p:nvPr/>
        </p:nvSpPr>
        <p:spPr>
          <a:xfrm>
            <a:off x="3200400" y="3730752"/>
            <a:ext cx="1828800" cy="320040"/>
          </a:xfrm>
          <a:prstGeom prst="rect">
            <a:avLst/>
          </a:prstGeom>
          <a:noFill/>
          <a:ln/>
        </p:spPr>
        <p:txBody>
          <a:bodyPr wrap="square" lIns="0" tIns="0" rIns="0" bIns="0" rtlCol="0" anchor="ctr"/>
          <a:lstStyle/>
          <a:p>
            <a:pPr marL="0" indent="0" algn="ctr">
              <a:buNone/>
            </a:pPr>
            <a:r>
              <a:rPr lang="en-US" sz="1200" b="1" dirty="0">
                <a:solidFill>
                  <a:srgbClr val="4FC3F7"/>
                </a:solidFill>
                <a:latin typeface="Calibri" pitchFamily="34" charset="0"/>
                <a:ea typeface="Calibri" pitchFamily="34" charset="-122"/>
                <a:cs typeface="Calibri" pitchFamily="34" charset="-120"/>
              </a:rPr>
              <a:t>-43.0%</a:t>
            </a:r>
            <a:endParaRPr lang="en-US" sz="1200" dirty="0"/>
          </a:p>
        </p:txBody>
      </p:sp>
      <p:sp>
        <p:nvSpPr>
          <p:cNvPr id="29" name="Text 27"/>
          <p:cNvSpPr/>
          <p:nvPr/>
        </p:nvSpPr>
        <p:spPr>
          <a:xfrm>
            <a:off x="5029200" y="3730752"/>
            <a:ext cx="1828800" cy="3200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-49.1%</a:t>
            </a:r>
            <a:endParaRPr lang="en-US" sz="1200" dirty="0"/>
          </a:p>
        </p:txBody>
      </p:sp>
      <p:sp>
        <p:nvSpPr>
          <p:cNvPr id="30" name="Text 28"/>
          <p:cNvSpPr/>
          <p:nvPr/>
        </p:nvSpPr>
        <p:spPr>
          <a:xfrm>
            <a:off x="6858000" y="3730752"/>
            <a:ext cx="1828800" cy="320040"/>
          </a:xfrm>
          <a:prstGeom prst="rect">
            <a:avLst/>
          </a:prstGeom>
          <a:noFill/>
          <a:ln/>
        </p:spPr>
        <p:txBody>
          <a:bodyPr wrap="square" lIns="0" tIns="0" rIns="0" bIns="0" rtlCol="0" anchor="ctr"/>
          <a:lstStyle/>
          <a:p>
            <a:pPr marL="0" indent="0" algn="ctr">
              <a:buNone/>
            </a:pPr>
            <a:r>
              <a:rPr lang="en-US" sz="1100" dirty="0">
                <a:solidFill>
                  <a:srgbClr val="4FC3F7"/>
                </a:solidFill>
                <a:latin typeface="Calibri" pitchFamily="34" charset="0"/>
                <a:ea typeface="Calibri" pitchFamily="34" charset="-122"/>
                <a:cs typeface="Calibri" pitchFamily="34" charset="-120"/>
              </a:rPr>
              <a:t>Strategy wins</a:t>
            </a:r>
            <a:endParaRPr lang="en-US" sz="1100" dirty="0"/>
          </a:p>
        </p:txBody>
      </p:sp>
      <p:sp>
        <p:nvSpPr>
          <p:cNvPr id="31" name="Shape 29"/>
          <p:cNvSpPr/>
          <p:nvPr/>
        </p:nvSpPr>
        <p:spPr>
          <a:xfrm>
            <a:off x="274320" y="4123944"/>
            <a:ext cx="8595360" cy="411480"/>
          </a:xfrm>
          <a:prstGeom prst="rect">
            <a:avLst/>
          </a:prstGeom>
          <a:solidFill>
            <a:srgbClr val="FFFFFF">
              <a:alpha val="12000"/>
            </a:srgbClr>
          </a:solidFill>
          <a:ln/>
        </p:spPr>
        <p:txBody>
          <a:bodyPr/>
          <a:lstStyle/>
          <a:p>
            <a:endParaRPr lang="en-IE"/>
          </a:p>
        </p:txBody>
      </p:sp>
      <p:sp>
        <p:nvSpPr>
          <p:cNvPr id="32" name="Text 30"/>
          <p:cNvSpPr/>
          <p:nvPr/>
        </p:nvSpPr>
        <p:spPr>
          <a:xfrm>
            <a:off x="457200" y="4169664"/>
            <a:ext cx="2743200" cy="3200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Sharpe Ratio</a:t>
            </a:r>
            <a:endParaRPr lang="en-US" sz="1200" dirty="0"/>
          </a:p>
        </p:txBody>
      </p:sp>
      <p:sp>
        <p:nvSpPr>
          <p:cNvPr id="33" name="Text 31"/>
          <p:cNvSpPr/>
          <p:nvPr/>
        </p:nvSpPr>
        <p:spPr>
          <a:xfrm>
            <a:off x="3200400" y="4169664"/>
            <a:ext cx="1828800" cy="320040"/>
          </a:xfrm>
          <a:prstGeom prst="rect">
            <a:avLst/>
          </a:prstGeom>
          <a:noFill/>
          <a:ln/>
        </p:spPr>
        <p:txBody>
          <a:bodyPr wrap="square" lIns="0" tIns="0" rIns="0" bIns="0" rtlCol="0" anchor="ctr"/>
          <a:lstStyle/>
          <a:p>
            <a:pPr marL="0" indent="0" algn="ctr">
              <a:buNone/>
            </a:pPr>
            <a:r>
              <a:rPr lang="en-US" sz="1200" b="1" dirty="0">
                <a:solidFill>
                  <a:srgbClr val="4FC3F7"/>
                </a:solidFill>
                <a:latin typeface="Calibri" pitchFamily="34" charset="0"/>
                <a:ea typeface="Calibri" pitchFamily="34" charset="-122"/>
                <a:cs typeface="Calibri" pitchFamily="34" charset="-120"/>
              </a:rPr>
              <a:t>0.43</a:t>
            </a:r>
            <a:endParaRPr lang="en-US" sz="1200" dirty="0"/>
          </a:p>
        </p:txBody>
      </p:sp>
      <p:sp>
        <p:nvSpPr>
          <p:cNvPr id="34" name="Text 32"/>
          <p:cNvSpPr/>
          <p:nvPr/>
        </p:nvSpPr>
        <p:spPr>
          <a:xfrm>
            <a:off x="5029200" y="4169664"/>
            <a:ext cx="1828800" cy="3200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0.44</a:t>
            </a:r>
            <a:endParaRPr lang="en-US" sz="1200" dirty="0"/>
          </a:p>
        </p:txBody>
      </p:sp>
      <p:sp>
        <p:nvSpPr>
          <p:cNvPr id="35" name="Text 33"/>
          <p:cNvSpPr/>
          <p:nvPr/>
        </p:nvSpPr>
        <p:spPr>
          <a:xfrm>
            <a:off x="6858000" y="4169664"/>
            <a:ext cx="1828800" cy="320040"/>
          </a:xfrm>
          <a:prstGeom prst="rect">
            <a:avLst/>
          </a:prstGeom>
          <a:noFill/>
          <a:ln/>
        </p:spPr>
        <p:txBody>
          <a:bodyPr wrap="square" lIns="0" tIns="0" rIns="0" bIns="0" rtlCol="0" anchor="ctr"/>
          <a:lstStyle/>
          <a:p>
            <a:pPr marL="0" indent="0" algn="ctr">
              <a:buNone/>
            </a:pPr>
            <a:r>
              <a:rPr lang="en-US" sz="1100" dirty="0">
                <a:solidFill>
                  <a:srgbClr val="4FC3F7"/>
                </a:solidFill>
                <a:latin typeface="Calibri" pitchFamily="34" charset="0"/>
                <a:ea typeface="Calibri" pitchFamily="34" charset="-122"/>
                <a:cs typeface="Calibri" pitchFamily="34" charset="-120"/>
              </a:rPr>
              <a:t>Nearly identical</a:t>
            </a:r>
            <a:endParaRPr lang="en-US" sz="1100" dirty="0"/>
          </a:p>
        </p:txBody>
      </p:sp>
      <p:sp>
        <p:nvSpPr>
          <p:cNvPr id="36" name="Shape 34"/>
          <p:cNvSpPr/>
          <p:nvPr/>
        </p:nvSpPr>
        <p:spPr>
          <a:xfrm>
            <a:off x="274320" y="4562856"/>
            <a:ext cx="8595360" cy="411480"/>
          </a:xfrm>
          <a:prstGeom prst="rect">
            <a:avLst/>
          </a:prstGeom>
          <a:solidFill>
            <a:srgbClr val="1E3A5F"/>
          </a:solidFill>
          <a:ln/>
        </p:spPr>
        <p:txBody>
          <a:bodyPr/>
          <a:lstStyle/>
          <a:p>
            <a:endParaRPr lang="en-IE"/>
          </a:p>
        </p:txBody>
      </p:sp>
      <p:sp>
        <p:nvSpPr>
          <p:cNvPr id="37" name="Text 35"/>
          <p:cNvSpPr/>
          <p:nvPr/>
        </p:nvSpPr>
        <p:spPr>
          <a:xfrm>
            <a:off x="457200" y="4608576"/>
            <a:ext cx="2743200" cy="3200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Hit Rate</a:t>
            </a:r>
            <a:endParaRPr lang="en-US" sz="1200" dirty="0"/>
          </a:p>
        </p:txBody>
      </p:sp>
      <p:sp>
        <p:nvSpPr>
          <p:cNvPr id="38" name="Text 36"/>
          <p:cNvSpPr/>
          <p:nvPr/>
        </p:nvSpPr>
        <p:spPr>
          <a:xfrm>
            <a:off x="3200400" y="4608576"/>
            <a:ext cx="1828800" cy="320040"/>
          </a:xfrm>
          <a:prstGeom prst="rect">
            <a:avLst/>
          </a:prstGeom>
          <a:noFill/>
          <a:ln/>
        </p:spPr>
        <p:txBody>
          <a:bodyPr wrap="square" lIns="0" tIns="0" rIns="0" bIns="0" rtlCol="0" anchor="ctr"/>
          <a:lstStyle/>
          <a:p>
            <a:pPr marL="0" indent="0" algn="ctr">
              <a:buNone/>
            </a:pPr>
            <a:r>
              <a:rPr lang="en-US" sz="1200" b="1" dirty="0">
                <a:solidFill>
                  <a:srgbClr val="4FC3F7"/>
                </a:solidFill>
                <a:latin typeface="Calibri" pitchFamily="34" charset="0"/>
                <a:ea typeface="Calibri" pitchFamily="34" charset="-122"/>
                <a:cs typeface="Calibri" pitchFamily="34" charset="-120"/>
              </a:rPr>
              <a:t>62.1%</a:t>
            </a:r>
            <a:endParaRPr lang="en-US" sz="1200" dirty="0"/>
          </a:p>
        </p:txBody>
      </p:sp>
      <p:sp>
        <p:nvSpPr>
          <p:cNvPr id="39" name="Text 37"/>
          <p:cNvSpPr/>
          <p:nvPr/>
        </p:nvSpPr>
        <p:spPr>
          <a:xfrm>
            <a:off x="5029200" y="4608576"/>
            <a:ext cx="1828800" cy="3200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65.4%</a:t>
            </a:r>
            <a:endParaRPr lang="en-US" sz="1200" dirty="0"/>
          </a:p>
        </p:txBody>
      </p:sp>
      <p:sp>
        <p:nvSpPr>
          <p:cNvPr id="40" name="Text 38"/>
          <p:cNvSpPr/>
          <p:nvPr/>
        </p:nvSpPr>
        <p:spPr>
          <a:xfrm>
            <a:off x="6858000" y="4608576"/>
            <a:ext cx="1828800" cy="320040"/>
          </a:xfrm>
          <a:prstGeom prst="rect">
            <a:avLst/>
          </a:prstGeom>
          <a:noFill/>
          <a:ln/>
        </p:spPr>
        <p:txBody>
          <a:bodyPr wrap="square" lIns="0" tIns="0" rIns="0" bIns="0" rtlCol="0" anchor="ctr"/>
          <a:lstStyle/>
          <a:p>
            <a:pPr marL="0" indent="0" algn="ctr">
              <a:buNone/>
            </a:pPr>
            <a:r>
              <a:rPr lang="en-US" sz="1100" dirty="0">
                <a:solidFill>
                  <a:srgbClr val="4FC3F7"/>
                </a:solidFill>
                <a:latin typeface="Calibri" pitchFamily="34" charset="0"/>
                <a:ea typeface="Calibri" pitchFamily="34" charset="-122"/>
                <a:cs typeface="Calibri" pitchFamily="34" charset="-120"/>
              </a:rPr>
              <a:t>Profitable most months</a:t>
            </a:r>
            <a:endParaRPr lang="en-US" sz="1100" dirty="0"/>
          </a:p>
        </p:txBody>
      </p:sp>
      <p:sp>
        <p:nvSpPr>
          <p:cNvPr id="41" name="TextBox 40">
            <a:extLst>
              <a:ext uri="{FF2B5EF4-FFF2-40B4-BE49-F238E27FC236}">
                <a16:creationId xmlns:a16="http://schemas.microsoft.com/office/drawing/2014/main" id="{76DC20AC-84E7-6A59-6D90-B2174977D026}"/>
              </a:ext>
            </a:extLst>
          </p:cNvPr>
          <p:cNvSpPr txBox="1"/>
          <p:nvPr/>
        </p:nvSpPr>
        <p:spPr>
          <a:xfrm>
            <a:off x="4608576" y="1005950"/>
            <a:ext cx="1851660" cy="292388"/>
          </a:xfrm>
          <a:prstGeom prst="rect">
            <a:avLst/>
          </a:prstGeom>
          <a:noFill/>
        </p:spPr>
        <p:txBody>
          <a:bodyPr wrap="square" rtlCol="0">
            <a:spAutoFit/>
          </a:bodyPr>
          <a:lstStyle/>
          <a:p>
            <a:r>
              <a:rPr lang="en-US" sz="1300" dirty="0">
                <a:solidFill>
                  <a:schemeClr val="bg1"/>
                </a:solidFill>
              </a:rPr>
              <a:t>During 2008</a:t>
            </a:r>
            <a:endParaRPr lang="en-IE" sz="1300"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94360"/>
          </a:xfrm>
          <a:prstGeom prst="rect">
            <a:avLst/>
          </a:prstGeom>
          <a:noFill/>
          <a:ln/>
        </p:spPr>
        <p:txBody>
          <a:bodyPr wrap="square" lIns="0" tIns="0" rIns="0" bIns="0" rtlCol="0" anchor="ctr"/>
          <a:lstStyle/>
          <a:p>
            <a:pPr marL="0" indent="0" algn="l">
              <a:buNone/>
            </a:pPr>
            <a:r>
              <a:rPr lang="en-US" sz="3000" b="1" dirty="0">
                <a:solidFill>
                  <a:srgbClr val="0F1F3D"/>
                </a:solidFill>
                <a:latin typeface="Calibri" pitchFamily="34" charset="0"/>
                <a:ea typeface="Calibri" pitchFamily="34" charset="-122"/>
                <a:cs typeface="Calibri" pitchFamily="34" charset="-120"/>
              </a:rPr>
              <a:t>Limitations &amp; What I would investigate next</a:t>
            </a:r>
            <a:endParaRPr lang="en-US" sz="3000" dirty="0"/>
          </a:p>
        </p:txBody>
      </p:sp>
      <p:sp>
        <p:nvSpPr>
          <p:cNvPr id="3" name="Text 1"/>
          <p:cNvSpPr/>
          <p:nvPr/>
        </p:nvSpPr>
        <p:spPr>
          <a:xfrm>
            <a:off x="365760" y="914400"/>
            <a:ext cx="4023360" cy="320040"/>
          </a:xfrm>
          <a:prstGeom prst="rect">
            <a:avLst/>
          </a:prstGeom>
          <a:noFill/>
          <a:ln/>
        </p:spPr>
        <p:txBody>
          <a:bodyPr wrap="square" lIns="0" tIns="0" rIns="0" bIns="0" rtlCol="0" anchor="ctr"/>
          <a:lstStyle/>
          <a:p>
            <a:pPr marL="0" indent="0">
              <a:buNone/>
            </a:pPr>
            <a:r>
              <a:rPr lang="en-US" sz="1100" b="1" kern="0" spc="300" dirty="0">
                <a:solidFill>
                  <a:srgbClr val="4FC3F7"/>
                </a:solidFill>
                <a:latin typeface="Calibri" pitchFamily="34" charset="0"/>
                <a:ea typeface="Calibri" pitchFamily="34" charset="-122"/>
                <a:cs typeface="Calibri" pitchFamily="34" charset="-120"/>
              </a:rPr>
              <a:t>LIMITATIONS</a:t>
            </a:r>
            <a:endParaRPr lang="en-US" sz="1100" dirty="0"/>
          </a:p>
        </p:txBody>
      </p:sp>
      <p:sp>
        <p:nvSpPr>
          <p:cNvPr id="4" name="Shape 2"/>
          <p:cNvSpPr/>
          <p:nvPr/>
        </p:nvSpPr>
        <p:spPr>
          <a:xfrm>
            <a:off x="365760" y="1234440"/>
            <a:ext cx="4023360" cy="36576"/>
          </a:xfrm>
          <a:prstGeom prst="rect">
            <a:avLst/>
          </a:prstGeom>
          <a:solidFill>
            <a:srgbClr val="4FC3F7"/>
          </a:solidFill>
          <a:ln/>
        </p:spPr>
        <p:txBody>
          <a:bodyPr/>
          <a:lstStyle/>
          <a:p>
            <a:endParaRPr lang="en-IE"/>
          </a:p>
        </p:txBody>
      </p:sp>
      <p:sp>
        <p:nvSpPr>
          <p:cNvPr id="5" name="Shape 3"/>
          <p:cNvSpPr/>
          <p:nvPr/>
        </p:nvSpPr>
        <p:spPr>
          <a:xfrm>
            <a:off x="365760" y="1371600"/>
            <a:ext cx="4023360" cy="1508760"/>
          </a:xfrm>
          <a:prstGeom prst="rect">
            <a:avLst/>
          </a:prstGeom>
          <a:solidFill>
            <a:srgbClr val="EEF3FB"/>
          </a:solidFill>
          <a:ln/>
          <a:effectLst>
            <a:outerShdw blurRad="76200" dist="25400" dir="8100000" algn="bl" rotWithShape="0">
              <a:srgbClr val="000000">
                <a:alpha val="10000"/>
              </a:srgbClr>
            </a:outerShdw>
          </a:effectLst>
        </p:spPr>
        <p:txBody>
          <a:bodyPr/>
          <a:lstStyle/>
          <a:p>
            <a:endParaRPr lang="en-IE"/>
          </a:p>
        </p:txBody>
      </p:sp>
      <p:sp>
        <p:nvSpPr>
          <p:cNvPr id="6" name="Text 4"/>
          <p:cNvSpPr/>
          <p:nvPr/>
        </p:nvSpPr>
        <p:spPr>
          <a:xfrm>
            <a:off x="548640" y="1481328"/>
            <a:ext cx="3657600" cy="347472"/>
          </a:xfrm>
          <a:prstGeom prst="rect">
            <a:avLst/>
          </a:prstGeom>
          <a:noFill/>
          <a:ln/>
        </p:spPr>
        <p:txBody>
          <a:bodyPr wrap="square" lIns="0" tIns="0" rIns="0" bIns="0" rtlCol="0" anchor="ctr"/>
          <a:lstStyle/>
          <a:p>
            <a:pPr marL="0" indent="0">
              <a:buNone/>
            </a:pPr>
            <a:r>
              <a:rPr lang="en-US" sz="1300" b="1" dirty="0">
                <a:solidFill>
                  <a:srgbClr val="0F1F3D"/>
                </a:solidFill>
                <a:latin typeface="Calibri" pitchFamily="34" charset="0"/>
                <a:ea typeface="Calibri" pitchFamily="34" charset="-122"/>
                <a:cs typeface="Calibri" pitchFamily="34" charset="-120"/>
              </a:rPr>
              <a:t>Universe Too Small</a:t>
            </a:r>
            <a:endParaRPr lang="en-US" sz="1300" dirty="0"/>
          </a:p>
        </p:txBody>
      </p:sp>
      <p:sp>
        <p:nvSpPr>
          <p:cNvPr id="7" name="Text 5"/>
          <p:cNvSpPr/>
          <p:nvPr/>
        </p:nvSpPr>
        <p:spPr>
          <a:xfrm>
            <a:off x="548640" y="1874520"/>
            <a:ext cx="3657600" cy="914400"/>
          </a:xfrm>
          <a:prstGeom prst="rect">
            <a:avLst/>
          </a:prstGeom>
          <a:noFill/>
          <a:ln/>
        </p:spPr>
        <p:txBody>
          <a:bodyPr wrap="square" rtlCol="0" anchor="ctr"/>
          <a:lstStyle/>
          <a:p>
            <a:pPr marL="0" indent="0">
              <a:buNone/>
            </a:pPr>
            <a:r>
              <a:rPr lang="en-US" sz="1150" dirty="0">
                <a:solidFill>
                  <a:srgbClr val="64748B"/>
                </a:solidFill>
                <a:latin typeface="Calibri" pitchFamily="34" charset="0"/>
                <a:ea typeface="Calibri" pitchFamily="34" charset="-122"/>
                <a:cs typeface="Calibri" pitchFamily="34" charset="-120"/>
              </a:rPr>
              <a:t>With only 11 ETFs the universe is too small to generate a meaningful gap between winners and losers — which is why the strategy matched the benchmark rather than outperforming it.</a:t>
            </a:r>
            <a:endParaRPr lang="en-US" sz="1150" dirty="0"/>
          </a:p>
        </p:txBody>
      </p:sp>
      <p:sp>
        <p:nvSpPr>
          <p:cNvPr id="8" name="Shape 6"/>
          <p:cNvSpPr/>
          <p:nvPr/>
        </p:nvSpPr>
        <p:spPr>
          <a:xfrm>
            <a:off x="365760" y="3063240"/>
            <a:ext cx="4023360" cy="1508760"/>
          </a:xfrm>
          <a:prstGeom prst="rect">
            <a:avLst/>
          </a:prstGeom>
          <a:solidFill>
            <a:srgbClr val="EEF3FB"/>
          </a:solidFill>
          <a:ln/>
          <a:effectLst>
            <a:outerShdw blurRad="76200" dist="25400" dir="8100000" algn="bl" rotWithShape="0">
              <a:srgbClr val="000000">
                <a:alpha val="10000"/>
              </a:srgbClr>
            </a:outerShdw>
          </a:effectLst>
        </p:spPr>
        <p:txBody>
          <a:bodyPr/>
          <a:lstStyle/>
          <a:p>
            <a:endParaRPr lang="en-IE"/>
          </a:p>
        </p:txBody>
      </p:sp>
      <p:sp>
        <p:nvSpPr>
          <p:cNvPr id="9" name="Text 7"/>
          <p:cNvSpPr/>
          <p:nvPr/>
        </p:nvSpPr>
        <p:spPr>
          <a:xfrm>
            <a:off x="548640" y="3172968"/>
            <a:ext cx="3657600" cy="347472"/>
          </a:xfrm>
          <a:prstGeom prst="rect">
            <a:avLst/>
          </a:prstGeom>
          <a:noFill/>
          <a:ln/>
        </p:spPr>
        <p:txBody>
          <a:bodyPr wrap="square" lIns="0" tIns="0" rIns="0" bIns="0" rtlCol="0" anchor="ctr"/>
          <a:lstStyle/>
          <a:p>
            <a:pPr marL="0" indent="0">
              <a:buNone/>
            </a:pPr>
            <a:r>
              <a:rPr lang="en-US" sz="1300" b="1" dirty="0">
                <a:solidFill>
                  <a:srgbClr val="0F1F3D"/>
                </a:solidFill>
                <a:latin typeface="Calibri" pitchFamily="34" charset="0"/>
                <a:ea typeface="Calibri" pitchFamily="34" charset="-122"/>
                <a:cs typeface="Calibri" pitchFamily="34" charset="-120"/>
              </a:rPr>
              <a:t>No Transaction Costs</a:t>
            </a:r>
            <a:endParaRPr lang="en-US" sz="1300" dirty="0"/>
          </a:p>
        </p:txBody>
      </p:sp>
      <p:sp>
        <p:nvSpPr>
          <p:cNvPr id="10" name="Text 8"/>
          <p:cNvSpPr/>
          <p:nvPr/>
        </p:nvSpPr>
        <p:spPr>
          <a:xfrm>
            <a:off x="548640" y="3566160"/>
            <a:ext cx="3657600" cy="914400"/>
          </a:xfrm>
          <a:prstGeom prst="rect">
            <a:avLst/>
          </a:prstGeom>
          <a:noFill/>
          <a:ln/>
        </p:spPr>
        <p:txBody>
          <a:bodyPr wrap="square" rtlCol="0" anchor="ctr"/>
          <a:lstStyle/>
          <a:p>
            <a:pPr marL="0" indent="0">
              <a:buNone/>
            </a:pPr>
            <a:r>
              <a:rPr lang="en-US" sz="1150" dirty="0">
                <a:solidFill>
                  <a:srgbClr val="64748B"/>
                </a:solidFill>
                <a:latin typeface="Calibri" pitchFamily="34" charset="0"/>
                <a:ea typeface="Calibri" pitchFamily="34" charset="-122"/>
                <a:cs typeface="Calibri" pitchFamily="34" charset="-120"/>
              </a:rPr>
              <a:t>Over 20 years of monthly rebalancing these costs would add up and reduce real returns.</a:t>
            </a:r>
            <a:endParaRPr lang="en-US" sz="1150" dirty="0"/>
          </a:p>
        </p:txBody>
      </p:sp>
      <p:sp>
        <p:nvSpPr>
          <p:cNvPr id="11" name="Text 9"/>
          <p:cNvSpPr/>
          <p:nvPr/>
        </p:nvSpPr>
        <p:spPr>
          <a:xfrm>
            <a:off x="4754880" y="914400"/>
            <a:ext cx="4114800" cy="320040"/>
          </a:xfrm>
          <a:prstGeom prst="rect">
            <a:avLst/>
          </a:prstGeom>
          <a:noFill/>
          <a:ln/>
        </p:spPr>
        <p:txBody>
          <a:bodyPr wrap="square" lIns="0" tIns="0" rIns="0" bIns="0" rtlCol="0" anchor="ctr"/>
          <a:lstStyle/>
          <a:p>
            <a:pPr marL="0" indent="0">
              <a:buNone/>
            </a:pPr>
            <a:r>
              <a:rPr lang="en-US" sz="1100" b="1" kern="0" spc="300" dirty="0">
                <a:solidFill>
                  <a:srgbClr val="4FC3F7"/>
                </a:solidFill>
                <a:latin typeface="Calibri" pitchFamily="34" charset="0"/>
                <a:ea typeface="Calibri" pitchFamily="34" charset="-122"/>
                <a:cs typeface="Calibri" pitchFamily="34" charset="-120"/>
              </a:rPr>
              <a:t>WHAT I WOULD CHANGE</a:t>
            </a:r>
            <a:endParaRPr lang="en-US" sz="1100" dirty="0"/>
          </a:p>
        </p:txBody>
      </p:sp>
      <p:sp>
        <p:nvSpPr>
          <p:cNvPr id="12" name="Shape 10"/>
          <p:cNvSpPr/>
          <p:nvPr/>
        </p:nvSpPr>
        <p:spPr>
          <a:xfrm>
            <a:off x="4754880" y="1234440"/>
            <a:ext cx="4114800" cy="36576"/>
          </a:xfrm>
          <a:prstGeom prst="rect">
            <a:avLst/>
          </a:prstGeom>
          <a:solidFill>
            <a:srgbClr val="4FC3F7"/>
          </a:solidFill>
          <a:ln/>
        </p:spPr>
        <p:txBody>
          <a:bodyPr/>
          <a:lstStyle/>
          <a:p>
            <a:endParaRPr lang="en-IE"/>
          </a:p>
        </p:txBody>
      </p:sp>
      <p:sp>
        <p:nvSpPr>
          <p:cNvPr id="13" name="Shape 11"/>
          <p:cNvSpPr/>
          <p:nvPr/>
        </p:nvSpPr>
        <p:spPr>
          <a:xfrm>
            <a:off x="4754880" y="1371600"/>
            <a:ext cx="4114800" cy="1508760"/>
          </a:xfrm>
          <a:prstGeom prst="rect">
            <a:avLst/>
          </a:prstGeom>
          <a:solidFill>
            <a:srgbClr val="0F1F3D"/>
          </a:solidFill>
          <a:ln/>
          <a:effectLst>
            <a:outerShdw blurRad="76200" dist="25400" dir="8100000" algn="bl" rotWithShape="0">
              <a:srgbClr val="000000">
                <a:alpha val="10000"/>
              </a:srgbClr>
            </a:outerShdw>
          </a:effectLst>
        </p:spPr>
        <p:txBody>
          <a:bodyPr/>
          <a:lstStyle/>
          <a:p>
            <a:endParaRPr lang="en-IE"/>
          </a:p>
        </p:txBody>
      </p:sp>
      <p:sp>
        <p:nvSpPr>
          <p:cNvPr id="14" name="Text 12"/>
          <p:cNvSpPr/>
          <p:nvPr/>
        </p:nvSpPr>
        <p:spPr>
          <a:xfrm>
            <a:off x="4937760" y="1481328"/>
            <a:ext cx="3749040" cy="347472"/>
          </a:xfrm>
          <a:prstGeom prst="rect">
            <a:avLst/>
          </a:prstGeom>
          <a:noFill/>
          <a:ln/>
        </p:spPr>
        <p:txBody>
          <a:bodyPr wrap="square" lIns="0" tIns="0" rIns="0" bIns="0"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Expand the Universe</a:t>
            </a:r>
            <a:endParaRPr lang="en-US" sz="1300" dirty="0"/>
          </a:p>
        </p:txBody>
      </p:sp>
      <p:sp>
        <p:nvSpPr>
          <p:cNvPr id="15" name="Text 13"/>
          <p:cNvSpPr/>
          <p:nvPr/>
        </p:nvSpPr>
        <p:spPr>
          <a:xfrm>
            <a:off x="4937760" y="1874520"/>
            <a:ext cx="3749040" cy="9144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Expand from 11 ETFs to individual S&amp;P 500 stocks to give the momentum signal a bigger gap between winners and losers.</a:t>
            </a:r>
            <a:endParaRPr lang="en-US" sz="1150" dirty="0"/>
          </a:p>
        </p:txBody>
      </p:sp>
      <p:sp>
        <p:nvSpPr>
          <p:cNvPr id="16" name="Shape 14"/>
          <p:cNvSpPr/>
          <p:nvPr/>
        </p:nvSpPr>
        <p:spPr>
          <a:xfrm>
            <a:off x="4754880" y="3063240"/>
            <a:ext cx="4114800" cy="1508760"/>
          </a:xfrm>
          <a:prstGeom prst="rect">
            <a:avLst/>
          </a:prstGeom>
          <a:solidFill>
            <a:srgbClr val="0F1F3D"/>
          </a:solidFill>
          <a:ln/>
          <a:effectLst>
            <a:outerShdw blurRad="76200" dist="25400" dir="8100000" algn="bl" rotWithShape="0">
              <a:srgbClr val="000000">
                <a:alpha val="10000"/>
              </a:srgbClr>
            </a:outerShdw>
          </a:effectLst>
        </p:spPr>
        <p:txBody>
          <a:bodyPr/>
          <a:lstStyle/>
          <a:p>
            <a:endParaRPr lang="en-IE"/>
          </a:p>
        </p:txBody>
      </p:sp>
      <p:sp>
        <p:nvSpPr>
          <p:cNvPr id="17" name="Text 15"/>
          <p:cNvSpPr/>
          <p:nvPr/>
        </p:nvSpPr>
        <p:spPr>
          <a:xfrm>
            <a:off x="4937760" y="3172968"/>
            <a:ext cx="3749040" cy="347472"/>
          </a:xfrm>
          <a:prstGeom prst="rect">
            <a:avLst/>
          </a:prstGeom>
          <a:noFill/>
          <a:ln/>
        </p:spPr>
        <p:txBody>
          <a:bodyPr wrap="square" lIns="0" tIns="0" rIns="0" bIns="0"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Long-Short Strategy</a:t>
            </a:r>
            <a:endParaRPr lang="en-US" sz="1300" dirty="0"/>
          </a:p>
        </p:txBody>
      </p:sp>
      <p:sp>
        <p:nvSpPr>
          <p:cNvPr id="18" name="Text 16"/>
          <p:cNvSpPr/>
          <p:nvPr/>
        </p:nvSpPr>
        <p:spPr>
          <a:xfrm>
            <a:off x="4937760" y="3566160"/>
            <a:ext cx="3749040" cy="9144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Test a long-short version buy the top performers and simultaneously short the bottom performers.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F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88FE6B-2ADD-1E01-582C-ACE64C5D0457}"/>
              </a:ext>
            </a:extLst>
          </p:cNvPr>
          <p:cNvSpPr txBox="1"/>
          <p:nvPr/>
        </p:nvSpPr>
        <p:spPr>
          <a:xfrm>
            <a:off x="213360" y="381000"/>
            <a:ext cx="5052060" cy="830997"/>
          </a:xfrm>
          <a:prstGeom prst="rect">
            <a:avLst/>
          </a:prstGeom>
          <a:noFill/>
        </p:spPr>
        <p:txBody>
          <a:bodyPr wrap="square" rtlCol="0">
            <a:spAutoFit/>
          </a:bodyPr>
          <a:lstStyle/>
          <a:p>
            <a:r>
              <a:rPr lang="en-US" sz="4800" dirty="0">
                <a:solidFill>
                  <a:schemeClr val="bg1"/>
                </a:solidFill>
              </a:rPr>
              <a:t>Thank you</a:t>
            </a:r>
            <a:endParaRPr lang="en-IE" sz="4800" dirty="0">
              <a:solidFill>
                <a:schemeClr val="bg1"/>
              </a:solidFill>
            </a:endParaRPr>
          </a:p>
        </p:txBody>
      </p:sp>
      <p:sp>
        <p:nvSpPr>
          <p:cNvPr id="3" name="Rectangle 2">
            <a:extLst>
              <a:ext uri="{FF2B5EF4-FFF2-40B4-BE49-F238E27FC236}">
                <a16:creationId xmlns:a16="http://schemas.microsoft.com/office/drawing/2014/main" id="{40B7DD6B-7F79-43E7-5550-A3E063CF4CBE}"/>
              </a:ext>
            </a:extLst>
          </p:cNvPr>
          <p:cNvSpPr/>
          <p:nvPr/>
        </p:nvSpPr>
        <p:spPr>
          <a:xfrm>
            <a:off x="411480" y="1272956"/>
            <a:ext cx="238506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4" name="Rectangle 3">
            <a:extLst>
              <a:ext uri="{FF2B5EF4-FFF2-40B4-BE49-F238E27FC236}">
                <a16:creationId xmlns:a16="http://schemas.microsoft.com/office/drawing/2014/main" id="{02B50A3D-BBFA-32A0-18D1-02B3C14EC98F}"/>
              </a:ext>
            </a:extLst>
          </p:cNvPr>
          <p:cNvSpPr/>
          <p:nvPr/>
        </p:nvSpPr>
        <p:spPr>
          <a:xfrm flipH="1">
            <a:off x="0" y="0"/>
            <a:ext cx="100484" cy="5143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3209009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7BE8EA694888B4782E23373732FD50D" ma:contentTypeVersion="17" ma:contentTypeDescription="Create a new document." ma:contentTypeScope="" ma:versionID="422023dd44d5d3ba3fc40de63eff1b78">
  <xsd:schema xmlns:xsd="http://www.w3.org/2001/XMLSchema" xmlns:xs="http://www.w3.org/2001/XMLSchema" xmlns:p="http://schemas.microsoft.com/office/2006/metadata/properties" xmlns:ns3="009ffcad-b463-47ee-b8be-16302b3dcba4" xmlns:ns4="76035d57-7652-4399-b02a-b141d7c404b7" targetNamespace="http://schemas.microsoft.com/office/2006/metadata/properties" ma:root="true" ma:fieldsID="d3fb50288f01e1076391acd7c599a313" ns3:_="" ns4:_="">
    <xsd:import namespace="009ffcad-b463-47ee-b8be-16302b3dcba4"/>
    <xsd:import namespace="76035d57-7652-4399-b02a-b141d7c404b7"/>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OCR" minOccurs="0"/>
                <xsd:element ref="ns3:_activity" minOccurs="0"/>
                <xsd:element ref="ns3:MediaServiceObjectDetectorVersions" minOccurs="0"/>
                <xsd:element ref="ns3:MediaServiceSearchProperties" minOccurs="0"/>
                <xsd:element ref="ns3:MediaServiceSystemTag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9ffcad-b463-47ee-b8be-16302b3dcb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_activity" ma:index="20" nillable="true" ma:displayName="_activity" ma:hidden="true" ma:internalName="_activity">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SystemTags" ma:index="23" nillable="true" ma:displayName="MediaServiceSystemTags" ma:hidden="true" ma:internalName="MediaServiceSystemTag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6035d57-7652-4399-b02a-b141d7c404b7"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009ffcad-b463-47ee-b8be-16302b3dcba4" xsi:nil="true"/>
  </documentManagement>
</p:properties>
</file>

<file path=customXml/itemProps1.xml><?xml version="1.0" encoding="utf-8"?>
<ds:datastoreItem xmlns:ds="http://schemas.openxmlformats.org/officeDocument/2006/customXml" ds:itemID="{44CAA2BF-0E7B-487D-BA9A-EFB4F17BFD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09ffcad-b463-47ee-b8be-16302b3dcba4"/>
    <ds:schemaRef ds:uri="76035d57-7652-4399-b02a-b141d7c404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0D2CD45-A3A7-4CBE-949C-3E52948AF4A5}">
  <ds:schemaRefs>
    <ds:schemaRef ds:uri="http://schemas.microsoft.com/sharepoint/v3/contenttype/forms"/>
  </ds:schemaRefs>
</ds:datastoreItem>
</file>

<file path=customXml/itemProps3.xml><?xml version="1.0" encoding="utf-8"?>
<ds:datastoreItem xmlns:ds="http://schemas.openxmlformats.org/officeDocument/2006/customXml" ds:itemID="{501398E0-9C6A-4618-8522-4F3E756D76A9}">
  <ds:schemaRefs>
    <ds:schemaRef ds:uri="http://purl.org/dc/elements/1.1/"/>
    <ds:schemaRef ds:uri="http://schemas.microsoft.com/office/2006/metadata/properties"/>
    <ds:schemaRef ds:uri="009ffcad-b463-47ee-b8be-16302b3dcba4"/>
    <ds:schemaRef ds:uri="http://schemas.microsoft.com/office/2006/documentManagement/types"/>
    <ds:schemaRef ds:uri="http://purl.org/dc/terms/"/>
    <ds:schemaRef ds:uri="http://purl.org/dc/dcmitype/"/>
    <ds:schemaRef ds:uri="http://schemas.microsoft.com/office/infopath/2007/PartnerControls"/>
    <ds:schemaRef ds:uri="http://schemas.openxmlformats.org/package/2006/metadata/core-properties"/>
    <ds:schemaRef ds:uri="76035d57-7652-4399-b02a-b141d7c404b7"/>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677</Words>
  <Application>Microsoft Office PowerPoint</Application>
  <PresentationFormat>On-screen Show (16:9)</PresentationFormat>
  <Paragraphs>103</Paragraphs>
  <Slides>12</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Kim Bucur</cp:lastModifiedBy>
  <cp:revision>9</cp:revision>
  <dcterms:created xsi:type="dcterms:W3CDTF">2026-05-27T09:10:33Z</dcterms:created>
  <dcterms:modified xsi:type="dcterms:W3CDTF">2026-05-28T14:22:13Z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0x01010077BE8EA694888B4782E23373732FD50D</vt:lpwstr>
  </property>
</Properties>
</file>